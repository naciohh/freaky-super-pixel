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09728" cy="109728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4" name="Shape 2"/>
          <p:cNvSpPr/>
          <p:nvPr/>
        </p:nvSpPr>
        <p:spPr>
          <a:xfrm>
            <a:off x="12051792" y="5760720"/>
            <a:ext cx="109728" cy="9875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0" y="-1188720"/>
            <a:ext cx="4389120" cy="4389120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464040" y="-594360"/>
            <a:ext cx="3200400" cy="3200400"/>
          </a:xfrm>
          <a:prstGeom prst="ellipse">
            <a:avLst/>
          </a:prstGeom>
          <a:solidFill>
            <a:srgbClr val="FF3D7F">
              <a:alpha val="5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49840" y="91440"/>
            <a:ext cx="1828800" cy="1828800"/>
          </a:xfrm>
          <a:prstGeom prst="ellipse">
            <a:avLst/>
          </a:prstGeom>
          <a:solidFill>
            <a:srgbClr val="00F5D4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384280" y="5989320"/>
            <a:ext cx="457200" cy="457200"/>
          </a:xfrm>
          <a:prstGeom prst="ellipse">
            <a:avLst/>
          </a:prstGeom>
          <a:solidFill>
            <a:srgbClr val="FFD166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ANÁLISIS TEÓRICO · DISEÑO DE VIDEOJUEGO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73736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spc="400" kern="0" dirty="0">
                <a:solidFill>
                  <a:srgbClr val="F5F3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FREAKY</a:t>
            </a:r>
            <a:endParaRPr lang="en-US" sz="110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spc="400" kern="0" dirty="0">
                <a:solidFill>
                  <a:srgbClr val="FF3D7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SUPER MESH</a:t>
            </a:r>
            <a:endParaRPr lang="en-US" sz="11000" dirty="0"/>
          </a:p>
        </p:txBody>
      </p:sp>
      <p:sp>
        <p:nvSpPr>
          <p:cNvPr id="13" name="Shape 11"/>
          <p:cNvSpPr/>
          <p:nvPr/>
        </p:nvSpPr>
        <p:spPr>
          <a:xfrm>
            <a:off x="731520" y="4754880"/>
            <a:ext cx="1371600" cy="54864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9834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Fidmay Agustín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Nuñez Di Meo Dante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 Juan Ignacio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49834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Aparicio Lucas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Ulrich Gonzalo Ezequiel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0" y="49834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1200" b="1" spc="400" kern="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UADE</a:t>
            </a:r>
            <a:endParaRPr lang="en-US" sz="1200" dirty="0"/>
          </a:p>
          <a:p>
            <a:pPr algn="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Cuatrimestre · Turno Tarde</a:t>
            </a:r>
            <a:endParaRPr lang="en-US" sz="1200" dirty="0"/>
          </a:p>
          <a:p>
            <a:pPr algn="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·  24 / 04 / 26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96696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09728" cy="109728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4" name="Shape 2"/>
          <p:cNvSpPr/>
          <p:nvPr/>
        </p:nvSpPr>
        <p:spPr>
          <a:xfrm>
            <a:off x="12051792" y="5760720"/>
            <a:ext cx="109728" cy="9875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502920"/>
            <a:ext cx="228600" cy="228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RESUMEN DEL JUEGO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1A1F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Action Rogue-lite dimensional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68580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920240"/>
            <a:ext cx="109728" cy="411480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148840"/>
            <a:ext cx="6400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· 1 jugador · Offline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PROTAGONISTA  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Emilio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Científico atrapado entre dimensiones tras un experimento de portales fallido.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Cenital inclinada · estilo isométrico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Atravesar mundos absurdos, derrotar enemigos temáticos y jefes finales.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3D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PILARES DE DISEÑO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2423160"/>
            <a:ext cx="3931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FF3D7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2423160"/>
            <a:ext cx="109728" cy="59436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0" y="24231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Combate frenético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0" y="3136392"/>
            <a:ext cx="3931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3136392"/>
            <a:ext cx="109728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8001000" y="313639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Mecánicas simples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0" y="3849624"/>
            <a:ext cx="3931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0F5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3849624"/>
            <a:ext cx="109728" cy="5943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0" y="384962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rejugabilidad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0" y="4562856"/>
            <a:ext cx="3931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FFD1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4562856"/>
            <a:ext cx="109728" cy="59436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4" name="Text 22"/>
          <p:cNvSpPr/>
          <p:nvPr/>
        </p:nvSpPr>
        <p:spPr>
          <a:xfrm>
            <a:off x="8001000" y="456285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 visual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0" y="5276088"/>
            <a:ext cx="3931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FF3D7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0" y="5276088"/>
            <a:ext cx="109728" cy="59436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27" name="Text 25"/>
          <p:cNvSpPr/>
          <p:nvPr/>
        </p:nvSpPr>
        <p:spPr>
          <a:xfrm>
            <a:off x="8001000" y="52760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 por habilidad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576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96696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09728" cy="109728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4" name="Shape 2"/>
          <p:cNvSpPr/>
          <p:nvPr/>
        </p:nvSpPr>
        <p:spPr>
          <a:xfrm>
            <a:off x="12051792" y="5760720"/>
            <a:ext cx="109728" cy="9875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502920"/>
            <a:ext cx="228600" cy="228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 MDA · HUNICKE, LEBLANC &amp; ZUBEK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100" kern="0" dirty="0">
                <a:solidFill>
                  <a:srgbClr val="1A1F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Del diseñador al jugador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La dirección del flujo es la clave del análisis MDA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32918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3D7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377440"/>
            <a:ext cx="3291840" cy="41148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774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MECHANICS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3D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que diseñamos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3832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Reglas, sistemas,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del juego.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34840" y="2377440"/>
            <a:ext cx="32918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34840" y="2377440"/>
            <a:ext cx="329184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3774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3484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que emerge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33832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tiempo real al jugar.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0" y="2377440"/>
            <a:ext cx="32918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F5D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0" y="2377440"/>
            <a:ext cx="3291840" cy="41148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23774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AESTHETICS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0392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que se siente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33832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emocionales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jugador.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977640" y="3886200"/>
            <a:ext cx="411480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headEnd type="triangl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772400" y="3886200"/>
            <a:ext cx="411480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headEnd type="triangl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DISEÑADOR →  parte de Mechanics  ·  JUGADOR ←  experimenta desde Aesthetics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96696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09728" cy="109728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4" name="Shape 2"/>
          <p:cNvSpPr/>
          <p:nvPr/>
        </p:nvSpPr>
        <p:spPr>
          <a:xfrm>
            <a:off x="12051792" y="5760720"/>
            <a:ext cx="109728" cy="9875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502920"/>
            <a:ext cx="228600" cy="22860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3D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MDA · 01 MECHANICS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100" kern="0" dirty="0">
                <a:solidFill>
                  <a:srgbClr val="1A1F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Mecánicas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Las reglas del sistema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87168"/>
            <a:ext cx="329184" cy="329184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2377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WASD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2377440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73368" y="2487168"/>
            <a:ext cx="329184" cy="329184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16" name="Text 14"/>
          <p:cNvSpPr/>
          <p:nvPr/>
        </p:nvSpPr>
        <p:spPr>
          <a:xfrm>
            <a:off x="6373368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12280" y="2377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Apuntado con mouse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090672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200400"/>
            <a:ext cx="329184" cy="329184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30906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de probetas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63640" y="3090672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3368" y="3200400"/>
            <a:ext cx="329184" cy="329184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24" name="Text 22"/>
          <p:cNvSpPr/>
          <p:nvPr/>
        </p:nvSpPr>
        <p:spPr>
          <a:xfrm>
            <a:off x="6373368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12280" y="30906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con Shift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803904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3913632"/>
            <a:ext cx="329184" cy="329184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" y="380390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Enemigos por oleadas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63640" y="3803904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73368" y="3913632"/>
            <a:ext cx="329184" cy="329184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32" name="Text 30"/>
          <p:cNvSpPr/>
          <p:nvPr/>
        </p:nvSpPr>
        <p:spPr>
          <a:xfrm>
            <a:off x="6373368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12280" y="380390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Jefes de dimensión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4517136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" y="4626864"/>
            <a:ext cx="329184" cy="329184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4626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97280" y="451713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salud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63640" y="4517136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73368" y="4626864"/>
            <a:ext cx="329184" cy="329184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40" name="Text 38"/>
          <p:cNvSpPr/>
          <p:nvPr/>
        </p:nvSpPr>
        <p:spPr>
          <a:xfrm>
            <a:off x="6373368" y="4626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12280" y="451713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Eufórico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8640" y="5230368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8368" y="5340096"/>
            <a:ext cx="329184" cy="329184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" y="5340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97280" y="52303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temporal de stats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263640" y="5230368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73368" y="5340096"/>
            <a:ext cx="329184" cy="329184"/>
          </a:xfrm>
          <a:prstGeom prst="ellipse">
            <a:avLst/>
          </a:prstGeom>
          <a:solidFill>
            <a:srgbClr val="FF3D7F"/>
          </a:solidFill>
          <a:ln/>
        </p:spPr>
      </p:sp>
      <p:sp>
        <p:nvSpPr>
          <p:cNvPr id="48" name="Text 46"/>
          <p:cNvSpPr/>
          <p:nvPr/>
        </p:nvSpPr>
        <p:spPr>
          <a:xfrm>
            <a:off x="6373368" y="5340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12280" y="52303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en euforia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" y="5623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  </a:t>
            </a:r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Superar dimensiones y sobrevivir.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6576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96696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09728" cy="109728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4" name="Shape 2"/>
          <p:cNvSpPr/>
          <p:nvPr/>
        </p:nvSpPr>
        <p:spPr>
          <a:xfrm>
            <a:off x="12051792" y="5760720"/>
            <a:ext cx="109728" cy="9875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502920"/>
            <a:ext cx="228600" cy="228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MDA · 02 DYNAMICS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1A1F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Dinámicas emergentes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Lo que ocurre cuando el jugador se encuentra con las reglas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3611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7724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constante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200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Esquivar y reposicionarse es obligatorio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2331720"/>
            <a:ext cx="3611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3200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espacio frente a hordas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2331720"/>
            <a:ext cx="3611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6676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36676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preciso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66760" y="3200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activa como recurso estratégico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3611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7240" y="4480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 ofensivo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" y="4846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Matar rápido = activar modo eufórico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3400" y="3977640"/>
            <a:ext cx="3611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0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572000" y="4480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0" y="4846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patrones enemigos y jefes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3977640"/>
            <a:ext cx="3611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66760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8366760" y="4480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creciente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6760" y="4846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sube el ritmo progresivamente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669280"/>
            <a:ext cx="2139696" cy="64008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566928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Inicio simple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61488" y="5669280"/>
            <a:ext cx="2139696" cy="64008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37" name="Text 35"/>
          <p:cNvSpPr/>
          <p:nvPr/>
        </p:nvSpPr>
        <p:spPr>
          <a:xfrm>
            <a:off x="2761488" y="566928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Más enemigos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74336" y="5669280"/>
            <a:ext cx="2139696" cy="64008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39" name="Text 37"/>
          <p:cNvSpPr/>
          <p:nvPr/>
        </p:nvSpPr>
        <p:spPr>
          <a:xfrm>
            <a:off x="4974336" y="566928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Presión creciente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187184" y="5669280"/>
            <a:ext cx="2139696" cy="64008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41" name="Text 39"/>
          <p:cNvSpPr/>
          <p:nvPr/>
        </p:nvSpPr>
        <p:spPr>
          <a:xfrm>
            <a:off x="7187184" y="566928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Jefe final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400032" y="5669280"/>
            <a:ext cx="2139696" cy="64008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43" name="Text 41"/>
          <p:cNvSpPr/>
          <p:nvPr/>
        </p:nvSpPr>
        <p:spPr>
          <a:xfrm>
            <a:off x="9400032" y="566928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Nueva dimensión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576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96696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09728" cy="109728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4" name="Shape 2"/>
          <p:cNvSpPr/>
          <p:nvPr/>
        </p:nvSpPr>
        <p:spPr>
          <a:xfrm>
            <a:off x="12051792" y="5760720"/>
            <a:ext cx="109728" cy="9875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502920"/>
            <a:ext cx="228600" cy="22860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MDA · 03 AESTHETICS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100" kern="0" dirty="0">
                <a:solidFill>
                  <a:srgbClr val="F5F3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Las 8 categorías (Hunicke et al.)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</a:rPr>
              <a:t>Cuáles buscamos generar en el jugador y cuáles no aplican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2743200" cy="1920240"/>
          </a:xfrm>
          <a:prstGeom prst="rect">
            <a:avLst/>
          </a:prstGeom>
          <a:solidFill>
            <a:srgbClr val="1A1F3A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2468880"/>
            <a:ext cx="685800" cy="256032"/>
          </a:xfrm>
          <a:prstGeom prst="rect">
            <a:avLst/>
          </a:prstGeom>
          <a:solidFill>
            <a:srgbClr val="00F5D4"/>
          </a:solidFill>
          <a:ln w="9525">
            <a:solidFill>
              <a:srgbClr val="00F5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4688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0F5D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SENSATION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291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Combate frenético, feedback audiovisual del lanzamiento de probetas y del estado eufórico.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10712" y="2331720"/>
            <a:ext cx="2743200" cy="1920240"/>
          </a:xfrm>
          <a:prstGeom prst="rect">
            <a:avLst/>
          </a:prstGeom>
          <a:solidFill>
            <a:srgbClr val="1A1F3A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30952" y="2468880"/>
            <a:ext cx="685800" cy="256032"/>
          </a:xfrm>
          <a:prstGeom prst="rect">
            <a:avLst/>
          </a:prstGeom>
          <a:solidFill>
            <a:srgbClr val="00F5D4"/>
          </a:solidFill>
          <a:ln w="9525">
            <a:solidFill>
              <a:srgbClr val="00F5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0952" y="24688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93592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0F5D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FANTASY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93592" y="3291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 bizarro: laboratorio que se rebela contra su dueño; dimensiones absurdas.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72784" y="2331720"/>
            <a:ext cx="2743200" cy="1920240"/>
          </a:xfrm>
          <a:prstGeom prst="rect">
            <a:avLst/>
          </a:prstGeom>
          <a:solidFill>
            <a:srgbClr val="1A1F3A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93024" y="2468880"/>
            <a:ext cx="685800" cy="256032"/>
          </a:xfrm>
          <a:prstGeom prst="rect">
            <a:avLst/>
          </a:prstGeom>
          <a:solidFill>
            <a:srgbClr val="00F5D4"/>
          </a:solidFill>
          <a:ln w="9525">
            <a:solidFill>
              <a:srgbClr val="00F5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93024" y="24688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55664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0F5D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NARRATIVE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55664" y="3291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Emilio intenta volver a casa tras el fallo de su portal dimensional.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34856" y="2331720"/>
            <a:ext cx="2743200" cy="1920240"/>
          </a:xfrm>
          <a:prstGeom prst="rect">
            <a:avLst/>
          </a:prstGeom>
          <a:solidFill>
            <a:srgbClr val="1A1F3A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55096" y="2468880"/>
            <a:ext cx="685800" cy="256032"/>
          </a:xfrm>
          <a:prstGeom prst="rect">
            <a:avLst/>
          </a:prstGeom>
          <a:solidFill>
            <a:srgbClr val="00F5D4"/>
          </a:solidFill>
          <a:ln w="9525">
            <a:solidFill>
              <a:srgbClr val="00F5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055096" y="24688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17736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0F5D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CHALLENGE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317736" y="3291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frente a oleadas y jefes; dificultad creciente partida a partida.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434840"/>
            <a:ext cx="2743200" cy="1920240"/>
          </a:xfrm>
          <a:prstGeom prst="rect">
            <a:avLst/>
          </a:prstGeom>
          <a:solidFill>
            <a:srgbClr val="1A1F3A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4572000"/>
            <a:ext cx="685800" cy="256032"/>
          </a:xfrm>
          <a:prstGeom prst="rect">
            <a:avLst/>
          </a:prstGeom>
          <a:solidFill>
            <a:srgbClr val="1A1F3A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45720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4892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A78BF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FELLOWSHIP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31520" y="5394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aplica: el juego es single-player offline, sin interacción social.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10712" y="4434840"/>
            <a:ext cx="2743200" cy="1920240"/>
          </a:xfrm>
          <a:prstGeom prst="rect">
            <a:avLst/>
          </a:prstGeom>
          <a:solidFill>
            <a:srgbClr val="1A1F3A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30952" y="4572000"/>
            <a:ext cx="685800" cy="256032"/>
          </a:xfrm>
          <a:prstGeom prst="rect">
            <a:avLst/>
          </a:prstGeom>
          <a:solidFill>
            <a:srgbClr val="00F5D4"/>
          </a:solidFill>
          <a:ln w="9525">
            <a:solidFill>
              <a:srgbClr val="00F5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30952" y="45720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93592" y="4892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0F5D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DISCOVERY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593592" y="5394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dimensión (desierto, supermercado, océano) trae nuevos enemigos y jefes.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72784" y="4434840"/>
            <a:ext cx="2743200" cy="1920240"/>
          </a:xfrm>
          <a:prstGeom prst="rect">
            <a:avLst/>
          </a:prstGeom>
          <a:solidFill>
            <a:srgbClr val="1A1F3A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93024" y="4572000"/>
            <a:ext cx="685800" cy="256032"/>
          </a:xfrm>
          <a:prstGeom prst="rect">
            <a:avLst/>
          </a:prstGeom>
          <a:solidFill>
            <a:srgbClr val="1A1F3A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93024" y="45720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55664" y="4892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A78BF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EXPRESSION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455664" y="5394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contempla explícitamente en el GDD (sin customización declarada).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134856" y="4434840"/>
            <a:ext cx="2743200" cy="1920240"/>
          </a:xfrm>
          <a:prstGeom prst="rect">
            <a:avLst/>
          </a:prstGeom>
          <a:solidFill>
            <a:srgbClr val="1A1F3A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055096" y="4572000"/>
            <a:ext cx="685800" cy="256032"/>
          </a:xfrm>
          <a:prstGeom prst="rect">
            <a:avLst/>
          </a:prstGeom>
          <a:solidFill>
            <a:srgbClr val="00F5D4"/>
          </a:solidFill>
          <a:ln w="9525">
            <a:solidFill>
              <a:srgbClr val="00F5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055096" y="45720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A0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317736" y="4892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0F5D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SUBMISSION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317736" y="5394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arcade + rejugabilidad: "una partida más" es la propuesta central.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96696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09728" cy="109728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4" name="Shape 2"/>
          <p:cNvSpPr/>
          <p:nvPr/>
        </p:nvSpPr>
        <p:spPr>
          <a:xfrm>
            <a:off x="12051792" y="5760720"/>
            <a:ext cx="109728" cy="9875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502920"/>
            <a:ext cx="228600" cy="2286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CADENA COMPLETA MDA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100" kern="0" dirty="0">
                <a:solidFill>
                  <a:srgbClr val="1A1F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Ejemplo: Estado Eufórico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Cómo una mecánica se convierte en emoción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3611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3D7F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331720"/>
            <a:ext cx="3611880" cy="36576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31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MECÁNICA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3D7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</a:t>
            </a:r>
            <a:endParaRPr lang="en-US" sz="9600" dirty="0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enemigos y bloquear ataques activa el estado eufórico.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69080" y="36118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16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&gt;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4416552" y="2331720"/>
            <a:ext cx="3611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16552" y="2331720"/>
            <a:ext cx="361188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416552" y="2331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DINÁMICA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07992" y="288036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7C3AE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</a:t>
            </a:r>
            <a:endParaRPr lang="en-US" sz="9600" dirty="0"/>
          </a:p>
        </p:txBody>
      </p:sp>
      <p:sp>
        <p:nvSpPr>
          <p:cNvPr id="20" name="Text 18"/>
          <p:cNvSpPr/>
          <p:nvPr/>
        </p:nvSpPr>
        <p:spPr>
          <a:xfrm>
            <a:off x="4690872" y="44805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jugador combina ofensiva y defensa para activarlo rápidamente.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36992" y="36118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16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&gt;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8284464" y="2331720"/>
            <a:ext cx="3611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F5D4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84464" y="2331720"/>
            <a:ext cx="3611880" cy="36576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4" name="Text 22"/>
          <p:cNvSpPr/>
          <p:nvPr/>
        </p:nvSpPr>
        <p:spPr>
          <a:xfrm>
            <a:off x="8284464" y="2331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ESTÉTICA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75904" y="288036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0F5D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</a:t>
            </a:r>
            <a:endParaRPr lang="en-US" sz="9600" dirty="0"/>
          </a:p>
        </p:txBody>
      </p:sp>
      <p:sp>
        <p:nvSpPr>
          <p:cNvPr id="26" name="Text 24"/>
          <p:cNvSpPr/>
          <p:nvPr/>
        </p:nvSpPr>
        <p:spPr>
          <a:xfrm>
            <a:off x="8558784" y="44805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· Sensation · Expression.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misma acción alimenta defensa, ofensiva y recompensa emocional.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96696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09728" cy="109728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4" name="Shape 2"/>
          <p:cNvSpPr/>
          <p:nvPr/>
        </p:nvSpPr>
        <p:spPr>
          <a:xfrm>
            <a:off x="12051792" y="5760720"/>
            <a:ext cx="109728" cy="9875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502920"/>
            <a:ext cx="228600" cy="228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TÉTRADA DE SCHELL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1A1F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Los cuatro elementos y sus relaciones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Diagrama de influencias recíprocas entre los elementos del juego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9088" y="2990728"/>
            <a:ext cx="1217424" cy="876545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  <a:headEnd type="triangl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14800" y="3264408"/>
            <a:ext cx="0" cy="1975104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80512" y="2990728"/>
            <a:ext cx="-1217424" cy="876545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  <a:headEnd type="triangl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66512" y="4636648"/>
            <a:ext cx="-1217424" cy="876545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742432" y="4251960"/>
            <a:ext cx="-3255264" cy="0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80512" y="5513192"/>
            <a:ext cx="-1217424" cy="-876545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931920" y="4069080"/>
            <a:ext cx="365760" cy="365760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977640" y="411480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Shape 16"/>
          <p:cNvSpPr/>
          <p:nvPr/>
        </p:nvSpPr>
        <p:spPr>
          <a:xfrm>
            <a:off x="2926080" y="2125980"/>
            <a:ext cx="2377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3D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0" y="2125980"/>
            <a:ext cx="2377440" cy="27432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20" name="Text 18"/>
          <p:cNvSpPr/>
          <p:nvPr/>
        </p:nvSpPr>
        <p:spPr>
          <a:xfrm>
            <a:off x="2926080" y="21259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MECÁNICA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63240" y="24185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Combate en tiempo real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63240" y="26197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Bosses por dimensión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63240" y="28209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Estado eufórico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12080" y="3771900"/>
            <a:ext cx="2377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2080" y="3771900"/>
            <a:ext cx="2377440" cy="2743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37719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ESTÉTICA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40645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Humor absurdo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49240" y="42656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Mundos bizarros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49240" y="44668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Feedback frenético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26080" y="5417820"/>
            <a:ext cx="2377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F5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26080" y="5417820"/>
            <a:ext cx="2377440" cy="27432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32" name="Text 30"/>
          <p:cNvSpPr/>
          <p:nvPr/>
        </p:nvSpPr>
        <p:spPr>
          <a:xfrm>
            <a:off x="2926080" y="54178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TECNOLOGÍA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63240" y="57104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Unity · Modelos 3D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63240" y="59115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Cámara cenital 53°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063240" y="61127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PC · Offline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" y="3771900"/>
            <a:ext cx="23774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3771900"/>
            <a:ext cx="237744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7719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7240" y="40645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Dr. Emilio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" y="42656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Portal fallido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7240" y="44668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Volver a casa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138160" y="2331720"/>
            <a:ext cx="3566160" cy="397764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43" name="Shape 41"/>
          <p:cNvSpPr/>
          <p:nvPr/>
        </p:nvSpPr>
        <p:spPr>
          <a:xfrm>
            <a:off x="8138160" y="2331720"/>
            <a:ext cx="356616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813816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INFLUENCIAS RECÍPROCAS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321040" y="2880360"/>
            <a:ext cx="73152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6" name="Text 44"/>
          <p:cNvSpPr/>
          <p:nvPr/>
        </p:nvSpPr>
        <p:spPr>
          <a:xfrm>
            <a:off x="8485632" y="2834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HISTORIA → MECÁNICA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85632" y="30632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portal fallido justifica las oleadas y los bosses por dimensión.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321040" y="3749040"/>
            <a:ext cx="73152" cy="68580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49" name="Text 47"/>
          <p:cNvSpPr/>
          <p:nvPr/>
        </p:nvSpPr>
        <p:spPr>
          <a:xfrm>
            <a:off x="8485632" y="3703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3D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MECÁNICA → ESTÉTICA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485632" y="39319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combate frenético y la euforia generan sensation y submission.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321040" y="4617720"/>
            <a:ext cx="73152" cy="68580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52" name="Text 50"/>
          <p:cNvSpPr/>
          <p:nvPr/>
        </p:nvSpPr>
        <p:spPr>
          <a:xfrm>
            <a:off x="8485632" y="45720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TECNOLOGÍA → MECÁNICA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485632" y="4800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cámara isométrica en Unity habilita el combate con apuntado.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321040" y="5486400"/>
            <a:ext cx="73152" cy="6858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5" name="Text 53"/>
          <p:cNvSpPr/>
          <p:nvPr/>
        </p:nvSpPr>
        <p:spPr>
          <a:xfrm>
            <a:off x="8485632" y="5440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ESTÉTICA → HISTORIA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485632" y="56692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tono absurdo construye el universo bizarro del laboratorio.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6576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96696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09728" cy="109728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4" name="Shape 2"/>
          <p:cNvSpPr/>
          <p:nvPr/>
        </p:nvSpPr>
        <p:spPr>
          <a:xfrm>
            <a:off x="12051792" y="5760720"/>
            <a:ext cx="109728" cy="9875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502920"/>
            <a:ext cx="228600" cy="22860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RELACIÓN ENTRE LOS ELEMENTOS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100" kern="0" dirty="0">
                <a:solidFill>
                  <a:srgbClr val="1A1F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Todo conecta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La coherencia como columna vertebral del diseño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7406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31720"/>
            <a:ext cx="109728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317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HISTORIA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pPr indent="0" marL="0">
              <a:buNone/>
            </a:pPr>
            <a:r>
              <a:rPr lang="en-US" sz="1300" b="1" spc="300" kern="0" dirty="0">
                <a:solidFill>
                  <a:srgbClr val="1A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DIMENSIONES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23317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narrativa justifica cada mundo.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7406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108960"/>
            <a:ext cx="109728" cy="658368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089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3D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MECÁNICA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pPr indent="0" marL="0">
              <a:buNone/>
            </a:pPr>
            <a:r>
              <a:rPr lang="en-US" sz="1300" b="1" spc="300" kern="0" dirty="0">
                <a:solidFill>
                  <a:srgbClr val="1A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DESAFÍO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31089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dimensión es un puzzle jugable.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7406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886200"/>
            <a:ext cx="109728" cy="65836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88620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ESTÉTICA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pPr indent="0" marL="0">
              <a:buNone/>
            </a:pPr>
            <a:r>
              <a:rPr lang="en-US" sz="1300" b="1" spc="300" kern="0" dirty="0">
                <a:solidFill>
                  <a:srgbClr val="1A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MEMORIA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9160" y="38862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universo se vuelve inolvidable.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7406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663440"/>
            <a:ext cx="109728" cy="658368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6634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TECNOLOGÍA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pPr indent="0" marL="0">
              <a:buNone/>
            </a:pPr>
            <a:r>
              <a:rPr lang="en-US" sz="1300" b="1" spc="300" kern="0" dirty="0">
                <a:solidFill>
                  <a:srgbClr val="1A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FLUIDEZ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09160" y="466344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garantiza una jugabilidad sólida.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0" y="2331720"/>
            <a:ext cx="3429000" cy="352044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27" name="Text 25"/>
          <p:cNvSpPr/>
          <p:nvPr/>
        </p:nvSpPr>
        <p:spPr>
          <a:xfrm>
            <a:off x="845820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CONCLUSIÓN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58200" y="2926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Coherencia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8458200" y="36576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narrativa,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visual.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458200" y="5394960"/>
            <a:ext cx="731520" cy="73152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96696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09728" cy="109728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4" name="Shape 2"/>
          <p:cNvSpPr/>
          <p:nvPr/>
        </p:nvSpPr>
        <p:spPr>
          <a:xfrm>
            <a:off x="12051792" y="5760720"/>
            <a:ext cx="109728" cy="9875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502920"/>
            <a:ext cx="228600" cy="228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REPARTO DE TAREAS · EQUIPO DINAMITA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1A1F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Quién desarrolló cada sección del GDD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Secciones del Game Design Document · completar con el integrante responsable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5577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31720"/>
            <a:ext cx="68580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24048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General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715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Integrante: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5577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54680"/>
            <a:ext cx="68580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54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3227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y contexto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538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Integrante: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5577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977640"/>
            <a:ext cx="68580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77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17320" y="4050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Mecánicas principales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4361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Integrante: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800600"/>
            <a:ext cx="5577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800600"/>
            <a:ext cx="68580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800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417320" y="48737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Progresión y estructura de niveles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5184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Integrante: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2331720"/>
            <a:ext cx="5577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2331720"/>
            <a:ext cx="68580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269480" y="24048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assets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69480" y="2715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Integrante: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3154680"/>
            <a:ext cx="5577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3154680"/>
            <a:ext cx="68580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3154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269480" y="3227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269480" y="3538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Integrante: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3977640"/>
            <a:ext cx="5577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3977640"/>
            <a:ext cx="68580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3977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07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269480" y="4050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69480" y="4361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Integrante: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0800" y="4800600"/>
            <a:ext cx="5577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0" y="4800600"/>
            <a:ext cx="68580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0" y="4800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08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7269480" y="48737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IA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269480" y="5184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Integrante: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51" name="Text 49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Equipo Dinamita · Fidmay · Nuñez Di Meo · Hug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6576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96696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09728" cy="109728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4" name="Shape 2"/>
          <p:cNvSpPr/>
          <p:nvPr/>
        </p:nvSpPr>
        <p:spPr>
          <a:xfrm>
            <a:off x="12051792" y="5760720"/>
            <a:ext cx="109728" cy="9875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502920"/>
            <a:ext cx="228600" cy="22860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3D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REFERENCIAS E INFLUENCIAS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1A1F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El ADN del juego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03120"/>
            <a:ext cx="3611880" cy="32004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 · 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6060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1A1F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MegaBonk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Diversión arcade inmediata y acción directa.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210312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2103120"/>
            <a:ext cx="361188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 · 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26280" y="26060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1A1F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Vampire Survivors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26280" y="32004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frente a hordas, progresión, rejugabilidad.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210312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2103120"/>
            <a:ext cx="3611880" cy="3200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 · 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21040" y="26060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1A1F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Hotline Miami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21040" y="32004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frenético, presión constante, combate intenso.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114800"/>
            <a:ext cx="3611880" cy="320040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 · 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46177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1A1F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Rick and Morty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1520" y="52120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 absurdo y dimensiones alternativas.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43400" y="411480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43400" y="4114800"/>
            <a:ext cx="3611880" cy="32004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31" name="Text 29"/>
          <p:cNvSpPr/>
          <p:nvPr/>
        </p:nvSpPr>
        <p:spPr>
          <a:xfrm>
            <a:off x="4526280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 · 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26280" y="46177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1A1F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Dr. Mundo — LoL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526280" y="52120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Científico descontrolado, poder bruto.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38160" y="411480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38160" y="4114800"/>
            <a:ext cx="361188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8321040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 · 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21040" y="46177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1A1F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Heimerdinger — LoL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321040" y="52120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 científico, estética tecnológica.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96696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09728" cy="1097280"/>
          </a:xfrm>
          <a:prstGeom prst="rect">
            <a:avLst/>
          </a:prstGeom>
          <a:solidFill>
            <a:srgbClr val="FF3D7F"/>
          </a:solidFill>
          <a:ln/>
        </p:spPr>
      </p:sp>
      <p:sp>
        <p:nvSpPr>
          <p:cNvPr id="4" name="Shape 2"/>
          <p:cNvSpPr/>
          <p:nvPr/>
        </p:nvSpPr>
        <p:spPr>
          <a:xfrm>
            <a:off x="12051792" y="5760720"/>
            <a:ext cx="109728" cy="987552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0F5D4"/>
          </a:solidFill>
          <a:ln/>
        </p:spPr>
      </p:sp>
      <p:sp>
        <p:nvSpPr>
          <p:cNvPr id="6" name="Shape 4"/>
          <p:cNvSpPr/>
          <p:nvPr/>
        </p:nvSpPr>
        <p:spPr>
          <a:xfrm>
            <a:off x="-548640" y="4480560"/>
            <a:ext cx="2926080" cy="2926080"/>
          </a:xfrm>
          <a:prstGeom prst="ellipse">
            <a:avLst/>
          </a:prstGeom>
          <a:solidFill>
            <a:srgbClr val="7C3AED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-640080"/>
            <a:ext cx="2926080" cy="2926080"/>
          </a:xfrm>
          <a:prstGeom prst="ellipse">
            <a:avLst/>
          </a:prstGeom>
          <a:solidFill>
            <a:srgbClr val="FF3D7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731520"/>
            <a:ext cx="731520" cy="731520"/>
          </a:xfrm>
          <a:prstGeom prst="ellipse">
            <a:avLst/>
          </a:prstGeom>
          <a:solidFill>
            <a:srgbClr val="00F5D4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5394960"/>
            <a:ext cx="731520" cy="731520"/>
          </a:xfrm>
          <a:prstGeom prst="ellipse">
            <a:avLst/>
          </a:prstGeom>
          <a:solidFill>
            <a:srgbClr val="FFD166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 DE LA PRESENTACIÓN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F3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Sistemas claros.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F5D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Acción intensa.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3D7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Identidad propia.</a:t>
            </a:r>
            <a:endParaRPr lang="en-US" sz="6400" dirty="0"/>
          </a:p>
        </p:txBody>
      </p:sp>
      <p:sp>
        <p:nvSpPr>
          <p:cNvPr id="14" name="Shape 12"/>
          <p:cNvSpPr/>
          <p:nvPr/>
        </p:nvSpPr>
        <p:spPr>
          <a:xfrm>
            <a:off x="5394960" y="5349240"/>
            <a:ext cx="137160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1000" kern="0" dirty="0">
                <a:solidFill>
                  <a:srgbClr val="FFD16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GRACIAS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 · UADE · 2026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FREAKY SUPER MESH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96696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Freaky Super Mesh - Análisis Teórico</dc:title>
  <dc:subject>PptxGenJS Presentation</dc:subject>
  <dc:creator>Fidmay, Nuñez Di Meo, Hug</dc:creator>
  <cp:lastModifiedBy>Fidmay, Nuñez Di Meo, Hug</cp:lastModifiedBy>
  <cp:revision>1</cp:revision>
  <dcterms:created xsi:type="dcterms:W3CDTF">2026-04-24T10:53:23Z</dcterms:created>
  <dcterms:modified xsi:type="dcterms:W3CDTF">2026-04-24T10:53:23Z</dcterms:modified>
</cp:coreProperties>
</file>