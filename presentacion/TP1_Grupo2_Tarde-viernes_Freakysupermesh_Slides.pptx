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62" y="1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72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drive.google.com/file/d/1MKETbmj1laYnqWN-iQ1BQG9DzCGuMave/view?usp=sharing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4864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01752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66344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30936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  /  DISEÑO DE VIDEOJUEGOS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66960" y="594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 ·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12801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kern="0" spc="3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FREAKY</a:t>
            </a:r>
            <a:endParaRPr lang="en-US" sz="8800" dirty="0"/>
          </a:p>
        </p:txBody>
      </p:sp>
      <p:sp>
        <p:nvSpPr>
          <p:cNvPr id="23" name="Text 21"/>
          <p:cNvSpPr/>
          <p:nvPr/>
        </p:nvSpPr>
        <p:spPr>
          <a:xfrm>
            <a:off x="685800" y="2560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kern="0" spc="300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 MESH</a:t>
            </a:r>
            <a:endParaRPr lang="en-US" sz="88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Rogue-lite dimensional  ·  análisis teórico de diseño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4434840"/>
            <a:ext cx="128016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6" name="Shape 24"/>
          <p:cNvSpPr/>
          <p:nvPr/>
        </p:nvSpPr>
        <p:spPr>
          <a:xfrm>
            <a:off x="2103120" y="4434840"/>
            <a:ext cx="365760" cy="36576"/>
          </a:xfrm>
          <a:prstGeom prst="rect">
            <a:avLst/>
          </a:prstGeom>
          <a:solidFill>
            <a:srgbClr val="E85A4F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0" y="4434840"/>
            <a:ext cx="182880" cy="36576"/>
          </a:xfrm>
          <a:prstGeom prst="rect">
            <a:avLst/>
          </a:prstGeom>
          <a:solidFill>
            <a:srgbClr val="4FB3A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Fidmay, Agustín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Nuñez Di Meo, Dante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Hug, Juan Ignacio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CÁTEDRA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Aparicio, Lucas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Ulrich, Gonzalo Ezequiel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UADE ·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Videojuegos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9536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Cuatrimestre · Tarde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9536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24 / 04 / 2026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1520" y="6035040"/>
            <a:ext cx="1069848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0949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DINAMITA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966960" y="609495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 00.1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[ 01 ]  ·  RESUMEN DEL JUEGO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Action Rogue-lite dimensional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Dr. Emilio queda atrapado entre mundos tras un experimento fallido. Debe sobrevivir oleadas, vencer jefes y volver a casa.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PROPUESTA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Freaky Super Mesh es un Action Rogue-lite single-player para PC. Desde una cámara cenital inclinada, el jugador atraviesa dimensiones absurdas derrotando enemigos temáticos y a un jefe final por mundo. El combate se construye sobre tres pilares: movimiento, bloqueo y un Estado Eufórico que recompensa la ofensiva continua.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DE JUEGO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72768" y="5257800"/>
            <a:ext cx="109728" cy="0"/>
          </a:xfrm>
          <a:prstGeom prst="line">
            <a:avLst/>
          </a:prstGeom>
          <a:noFill/>
          <a:ln w="1016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55648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Oleadas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9776" y="5257800"/>
            <a:ext cx="109728" cy="0"/>
          </a:xfrm>
          <a:prstGeom prst="line">
            <a:avLst/>
          </a:prstGeom>
          <a:noFill/>
          <a:ln w="1016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62656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62656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Euforia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86784" y="5257800"/>
            <a:ext cx="109728" cy="0"/>
          </a:xfrm>
          <a:prstGeom prst="line">
            <a:avLst/>
          </a:prstGeom>
          <a:noFill/>
          <a:ln w="1016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169664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93792" y="5257800"/>
            <a:ext cx="109728" cy="0"/>
          </a:xfrm>
          <a:prstGeom prst="line">
            <a:avLst/>
          </a:prstGeom>
          <a:noFill/>
          <a:ln w="1016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376672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dim.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2011680"/>
            <a:ext cx="3886200" cy="42976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2011680"/>
            <a:ext cx="388620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20391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FICHA TÉCNICA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0100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GÉNERO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0100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Rogue-lite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01000" y="2990088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3026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PLATAFORMA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01000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001000" y="3502152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0" y="3538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JUGADORES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0100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Offline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001000" y="4014216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4050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PERSONAJE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0100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Emilio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01000" y="4526280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01000" y="45628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CÁMARA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01000" y="4764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Cenital 53° (iso)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001000" y="5038344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1000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01000" y="5276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+ Mouse + Shift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001000" y="5550408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01000" y="55869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01000" y="5788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[ 02 ]  ·  FRAMEWORK MDA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 diseñador al jugador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Hunicke, LeBlanc &amp; Zubek  ·  la dirección del flujo es la clave del análisis.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3520440" cy="292608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97480"/>
            <a:ext cx="352044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324612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diseñamos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sistemas, componentes del juego.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306324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035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62272" y="2697480"/>
            <a:ext cx="3520440" cy="292608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2697480"/>
            <a:ext cx="352044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7" name="Text 25"/>
          <p:cNvSpPr/>
          <p:nvPr/>
        </p:nvSpPr>
        <p:spPr>
          <a:xfrm>
            <a:off x="4690872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24612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0" name="Text 28"/>
          <p:cNvSpPr/>
          <p:nvPr/>
        </p:nvSpPr>
        <p:spPr>
          <a:xfrm>
            <a:off x="4690872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emerge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90872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emergente en tiempo real.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90872" y="5257800"/>
            <a:ext cx="306324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53035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75904" y="2697480"/>
            <a:ext cx="3520440" cy="292608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2697480"/>
            <a:ext cx="352044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6" name="Text 34"/>
          <p:cNvSpPr/>
          <p:nvPr/>
        </p:nvSpPr>
        <p:spPr>
          <a:xfrm>
            <a:off x="8604504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07424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604504" y="324612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9" name="Text 37"/>
          <p:cNvSpPr/>
          <p:nvPr/>
        </p:nvSpPr>
        <p:spPr>
          <a:xfrm>
            <a:off x="8604504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se siente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04504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emocionales del jugador.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604504" y="5257800"/>
            <a:ext cx="306324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04504" y="53035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4160520"/>
            <a:ext cx="274320" cy="0"/>
          </a:xfrm>
          <a:prstGeom prst="line">
            <a:avLst/>
          </a:prstGeom>
          <a:noFill/>
          <a:ln w="1905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28432" y="4160520"/>
            <a:ext cx="274320" cy="0"/>
          </a:xfrm>
          <a:prstGeom prst="line">
            <a:avLst/>
          </a:prstGeom>
          <a:noFill/>
          <a:ln w="1905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7607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DISEÑADOR  parte de Mechanics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63640" y="57607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4FB3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JUGADOR  experimenta desde Aesthetics  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FLUJO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[ 03 ]  ·  MDA · 01 MECHANICS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Mecánicas del sistema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con las que se construye el juego.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6791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2953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en cuatro direcciones.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60604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60604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8040" y="26791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2953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con el mouse.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3756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33756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34107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36850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 probetas.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33756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33756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34107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78040" y="36850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con Shift.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06908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17320" y="41422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Enemigos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17320" y="44165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Oleadas temáticas por dimensión.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406908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06908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78040" y="41422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78040" y="44165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al cierre de cada dimensión.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80060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80060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417320" y="48737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417320" y="51480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numérico con daño recibido.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480060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480060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78040" y="48737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Eufórico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178040" y="51480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al combinar bloqueo y kills.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553212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553212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8" name="Text 56"/>
          <p:cNvSpPr/>
          <p:nvPr/>
        </p:nvSpPr>
        <p:spPr>
          <a:xfrm>
            <a:off x="731520" y="5532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M.09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417320" y="56052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 temporal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417320" y="58795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mejoradas durante la euforia.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09360" y="553212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09360" y="553212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5532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178040" y="56052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Regeneración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178040" y="58795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vida en euforia.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MECHANICS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[ 04 ]  ·  MDA · 02 DYNAMICS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Dinámicas emergentes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ocurre cuando el jugador entra en contacto con las reglas.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constante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Esquivar y reposicionarse es parte del combate.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260604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260604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espacio frente a hordas.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260604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60604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estratégico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activa como recurso de supervivencia.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16052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ofensivo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rápido acelera el estado eufórico.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43400" y="416052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0" y="416052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2628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2628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patrones de enemigos y jefes.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416052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416052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2104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creciente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32104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ritmo aumenta partida a partida.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5760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RITMO DE PARTIDA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5216" y="6053328"/>
            <a:ext cx="109728" cy="109728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5963045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1520" y="6108192"/>
            <a:ext cx="1938528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98064" y="6053328"/>
            <a:ext cx="109728" cy="109728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51" name="Text 49"/>
          <p:cNvSpPr/>
          <p:nvPr/>
        </p:nvSpPr>
        <p:spPr>
          <a:xfrm>
            <a:off x="2990088" y="5963045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enemigos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944368" y="6108192"/>
            <a:ext cx="1938528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10912" y="6053328"/>
            <a:ext cx="109728" cy="109728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54" name="Text 52"/>
          <p:cNvSpPr/>
          <p:nvPr/>
        </p:nvSpPr>
        <p:spPr>
          <a:xfrm>
            <a:off x="5202936" y="5963045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creciente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57216" y="6108192"/>
            <a:ext cx="1938528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23760" y="6053328"/>
            <a:ext cx="109728" cy="109728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57" name="Text 55"/>
          <p:cNvSpPr/>
          <p:nvPr/>
        </p:nvSpPr>
        <p:spPr>
          <a:xfrm>
            <a:off x="7415784" y="5963045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final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370064" y="6108192"/>
            <a:ext cx="1938528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36608" y="6053328"/>
            <a:ext cx="109728" cy="109728"/>
          </a:xfrm>
          <a:prstGeom prst="ellipse">
            <a:avLst/>
          </a:prstGeom>
          <a:solidFill>
            <a:srgbClr val="E85A4F"/>
          </a:solidFill>
          <a:ln/>
        </p:spPr>
      </p:sp>
      <p:sp>
        <p:nvSpPr>
          <p:cNvPr id="60" name="Text 58"/>
          <p:cNvSpPr/>
          <p:nvPr/>
        </p:nvSpPr>
        <p:spPr>
          <a:xfrm>
            <a:off x="9628632" y="59683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dimensión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DYNAMICS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[ 05 ]  ·  MDA · 03 AESTHETICS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Las 8 categorías de Hunicke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cuáles aplican al juego y cuáles quedan fuera de alcance.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2743200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frenético, feedback del lanzamiento y del estado eufórico.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2606040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0712" y="2606040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5" name="Shape 23"/>
          <p:cNvSpPr/>
          <p:nvPr/>
        </p:nvSpPr>
        <p:spPr>
          <a:xfrm>
            <a:off x="5468112" y="2743200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93592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9359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93592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bizarro: un laboratorio que se rebela contra su dueño.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72784" y="2606040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2784" y="2606040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2" name="Shape 30"/>
          <p:cNvSpPr/>
          <p:nvPr/>
        </p:nvSpPr>
        <p:spPr>
          <a:xfrm>
            <a:off x="8330184" y="2743200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0184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55664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55664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5664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Emilio intenta volver a casa tras un experimento fallido.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34856" y="2606040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34856" y="2606040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92256" y="2743200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92256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17736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17736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17736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frente a oleadas y jefes con dificultad creciente.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553712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4553712"/>
            <a:ext cx="36576" cy="1783080"/>
          </a:xfrm>
          <a:prstGeom prst="rect">
            <a:avLst/>
          </a:prstGeom>
          <a:solidFill>
            <a:srgbClr val="E85A4F"/>
          </a:solidFill>
          <a:ln/>
        </p:spPr>
      </p:sp>
      <p:sp>
        <p:nvSpPr>
          <p:cNvPr id="46" name="Shape 44"/>
          <p:cNvSpPr/>
          <p:nvPr/>
        </p:nvSpPr>
        <p:spPr>
          <a:xfrm>
            <a:off x="2606040" y="4690872"/>
            <a:ext cx="548640" cy="274320"/>
          </a:xfrm>
          <a:prstGeom prst="rect">
            <a:avLst/>
          </a:prstGeom>
          <a:solidFill>
            <a:srgbClr val="1C2230"/>
          </a:solidFill>
          <a:ln w="8890">
            <a:solidFill>
              <a:srgbClr val="E85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6040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5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5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1520" y="5468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D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aplica: propuesta single-player offline sin interacción social.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10712" y="4553712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10712" y="4553712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3" name="Shape 51"/>
          <p:cNvSpPr/>
          <p:nvPr/>
        </p:nvSpPr>
        <p:spPr>
          <a:xfrm>
            <a:off x="5468112" y="4690872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68112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593592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93592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593592" y="5468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dimensión introduce nuevos enemigos y escenarios.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72784" y="4553712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4553712"/>
            <a:ext cx="36576" cy="1783080"/>
          </a:xfrm>
          <a:prstGeom prst="rect">
            <a:avLst/>
          </a:prstGeom>
          <a:solidFill>
            <a:srgbClr val="E85A4F"/>
          </a:solidFill>
          <a:ln/>
        </p:spPr>
      </p:sp>
      <p:sp>
        <p:nvSpPr>
          <p:cNvPr id="60" name="Shape 58"/>
          <p:cNvSpPr/>
          <p:nvPr/>
        </p:nvSpPr>
        <p:spPr>
          <a:xfrm>
            <a:off x="8330184" y="4690872"/>
            <a:ext cx="548640" cy="274320"/>
          </a:xfrm>
          <a:prstGeom prst="rect">
            <a:avLst/>
          </a:prstGeom>
          <a:solidFill>
            <a:srgbClr val="1C2230"/>
          </a:solidFill>
          <a:ln w="8890">
            <a:solidFill>
              <a:srgbClr val="E85A4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30184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5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55664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5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55664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55664" y="5468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D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contemplada explícitamente en el GDD (sin customización).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134856" y="4553712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34856" y="4553712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67" name="Shape 65"/>
          <p:cNvSpPr/>
          <p:nvPr/>
        </p:nvSpPr>
        <p:spPr>
          <a:xfrm>
            <a:off x="11192256" y="4690872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192256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317736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317736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317736" y="5468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arcade y rejugabilidad: la partida corta como propuesta.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AESTHETICS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[ 06 ]  ·  CADENA COMPLETA MDA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Caso: Estado Eufórico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una mecánica concreta se transforma en experiencia estética.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611880" cy="306324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61188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97380" y="3337560"/>
            <a:ext cx="914400" cy="914400"/>
          </a:xfrm>
          <a:prstGeom prst="ellipse">
            <a:avLst/>
          </a:prstGeom>
          <a:solidFill>
            <a:srgbClr val="242B3B"/>
          </a:solidFill>
          <a:ln w="15240">
            <a:solidFill>
              <a:srgbClr val="D4A0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192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</a:t>
            </a:r>
            <a:endParaRPr lang="en-US" sz="4600" dirty="0"/>
          </a:p>
        </p:txBody>
      </p:sp>
      <p:sp>
        <p:nvSpPr>
          <p:cNvPr id="22" name="Shape 20"/>
          <p:cNvSpPr/>
          <p:nvPr/>
        </p:nvSpPr>
        <p:spPr>
          <a:xfrm>
            <a:off x="914400" y="4617720"/>
            <a:ext cx="288036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enemigos y bloquear ataques activa el estado eufórico.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4137660"/>
            <a:ext cx="182880" cy="0"/>
          </a:xfrm>
          <a:prstGeom prst="line">
            <a:avLst/>
          </a:prstGeom>
          <a:noFill/>
          <a:ln w="1905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16552" y="2606040"/>
            <a:ext cx="3611880" cy="306324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2606040"/>
            <a:ext cx="361188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99432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5292" y="3337560"/>
            <a:ext cx="914400" cy="914400"/>
          </a:xfrm>
          <a:prstGeom prst="ellipse">
            <a:avLst/>
          </a:prstGeom>
          <a:solidFill>
            <a:srgbClr val="242B3B"/>
          </a:solidFill>
          <a:ln w="15240">
            <a:solidFill>
              <a:srgbClr val="D4A0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16552" y="33192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endParaRPr lang="en-US" sz="4600" dirty="0"/>
          </a:p>
        </p:txBody>
      </p:sp>
      <p:sp>
        <p:nvSpPr>
          <p:cNvPr id="31" name="Shape 29"/>
          <p:cNvSpPr/>
          <p:nvPr/>
        </p:nvSpPr>
        <p:spPr>
          <a:xfrm>
            <a:off x="4782312" y="4617720"/>
            <a:ext cx="288036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combina ofensiva y defensa para acelerar su activación.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74152" y="4137660"/>
            <a:ext cx="182880" cy="0"/>
          </a:xfrm>
          <a:prstGeom prst="line">
            <a:avLst/>
          </a:prstGeom>
          <a:noFill/>
          <a:ln w="1905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84464" y="2606040"/>
            <a:ext cx="3611880" cy="306324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84464" y="2606040"/>
            <a:ext cx="361188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6" name="Text 34"/>
          <p:cNvSpPr/>
          <p:nvPr/>
        </p:nvSpPr>
        <p:spPr>
          <a:xfrm>
            <a:off x="8467344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67344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33204" y="3337560"/>
            <a:ext cx="914400" cy="914400"/>
          </a:xfrm>
          <a:prstGeom prst="ellipse">
            <a:avLst/>
          </a:prstGeom>
          <a:solidFill>
            <a:srgbClr val="242B3B"/>
          </a:solidFill>
          <a:ln w="15240">
            <a:solidFill>
              <a:srgbClr val="D4A0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84464" y="33192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4600" dirty="0"/>
          </a:p>
        </p:txBody>
      </p:sp>
      <p:sp>
        <p:nvSpPr>
          <p:cNvPr id="40" name="Shape 38"/>
          <p:cNvSpPr/>
          <p:nvPr/>
        </p:nvSpPr>
        <p:spPr>
          <a:xfrm>
            <a:off x="8650224" y="4617720"/>
            <a:ext cx="288036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58784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· Sensation · Submission.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acción alimenta defensa, ofensiva y recompensa emocional.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CADENA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17">
            <a:extLst>
              <a:ext uri="{FF2B5EF4-FFF2-40B4-BE49-F238E27FC236}">
                <a16:creationId xmlns:a16="http://schemas.microsoft.com/office/drawing/2014/main" id="{B4AFE718-028A-45D2-A379-A1BF91E3D1D2}"/>
              </a:ext>
            </a:extLst>
          </p:cNvPr>
          <p:cNvSpPr/>
          <p:nvPr/>
        </p:nvSpPr>
        <p:spPr>
          <a:xfrm>
            <a:off x="2324222" y="4796028"/>
            <a:ext cx="703808" cy="96012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[ 07 ]  ·  TÉTRADA DE SCHELL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Los cuatro elementos y sus relaciones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influencias recíprocas entre los elementos del juego.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54156" y="3212189"/>
            <a:ext cx="1207288" cy="845101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0" y="3493008"/>
            <a:ext cx="0" cy="1883664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2468880" y="3212189"/>
            <a:ext cx="1106564" cy="845101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5193792" y="4812389"/>
            <a:ext cx="667652" cy="975763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42432" y="4434840"/>
            <a:ext cx="0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75444" y="5657491"/>
            <a:ext cx="0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77640" y="4297680"/>
            <a:ext cx="274320" cy="274320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23" name="Shape 21"/>
          <p:cNvSpPr/>
          <p:nvPr/>
        </p:nvSpPr>
        <p:spPr>
          <a:xfrm>
            <a:off x="4041648" y="4361688"/>
            <a:ext cx="146304" cy="146304"/>
          </a:xfrm>
          <a:prstGeom prst="ellipse">
            <a:avLst/>
          </a:prstGeom>
          <a:solidFill>
            <a:srgbClr val="121722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0" y="2354580"/>
            <a:ext cx="2377440" cy="960120"/>
          </a:xfrm>
          <a:prstGeom prst="rect">
            <a:avLst/>
          </a:prstGeom>
          <a:solidFill>
            <a:srgbClr val="1C2230"/>
          </a:solidFill>
          <a:ln w="13970">
            <a:solidFill>
              <a:srgbClr val="D4A0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2354580"/>
            <a:ext cx="237744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23545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90672" y="26746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Combate en tiempo real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90672" y="28757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Bosses por dimensión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90672" y="30769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Estado eufórico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3954780"/>
            <a:ext cx="2377440" cy="960120"/>
          </a:xfrm>
          <a:prstGeom prst="rect">
            <a:avLst/>
          </a:prstGeom>
          <a:solidFill>
            <a:srgbClr val="1C2230"/>
          </a:solidFill>
          <a:ln w="13970">
            <a:solidFill>
              <a:srgbClr val="D4A0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3954780"/>
            <a:ext cx="237744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9547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42748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Humor absurdo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6672" y="44759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Mundos bizarros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76672" y="46771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Feedback frenético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26080" y="5554980"/>
            <a:ext cx="2377440" cy="960120"/>
          </a:xfrm>
          <a:prstGeom prst="rect">
            <a:avLst/>
          </a:prstGeom>
          <a:solidFill>
            <a:srgbClr val="1C2230"/>
          </a:solidFill>
          <a:ln w="13970">
            <a:solidFill>
              <a:srgbClr val="D4A0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0" y="5554980"/>
            <a:ext cx="237744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55549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90672" y="58750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Unity · Modelos 3D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090672" y="60761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Cámara cenital 53°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62773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PC · Offline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" y="3954780"/>
            <a:ext cx="2377440" cy="960120"/>
          </a:xfrm>
          <a:prstGeom prst="rect">
            <a:avLst/>
          </a:prstGeom>
          <a:solidFill>
            <a:srgbClr val="1C2230"/>
          </a:solidFill>
          <a:ln w="13970">
            <a:solidFill>
              <a:srgbClr val="D4A0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3954780"/>
            <a:ext cx="237744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9547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" y="42748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Dr. Emilio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" y="44759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Portal fallido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" y="46771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Volver a casa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46720" y="2606040"/>
            <a:ext cx="3657600" cy="374904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2606040"/>
            <a:ext cx="365760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50" name="Text 48"/>
          <p:cNvSpPr/>
          <p:nvPr/>
        </p:nvSpPr>
        <p:spPr>
          <a:xfrm>
            <a:off x="80467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INFLUENCIAS RECÍPROCAS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75320" y="3154680"/>
            <a:ext cx="54864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2" name="Text 50"/>
          <p:cNvSpPr/>
          <p:nvPr/>
        </p:nvSpPr>
        <p:spPr>
          <a:xfrm>
            <a:off x="8458200" y="31089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  →  MECÁNICA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58200" y="3310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fallido justifica oleadas y bosses por dimensión.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75320" y="3959352"/>
            <a:ext cx="54864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5" name="Text 53"/>
          <p:cNvSpPr/>
          <p:nvPr/>
        </p:nvSpPr>
        <p:spPr>
          <a:xfrm>
            <a:off x="8458200" y="39136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  →  ESTÉTICA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58200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combate frenético y la euforia generan sensation y submission.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75320" y="4764024"/>
            <a:ext cx="54864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8" name="Text 56"/>
          <p:cNvSpPr/>
          <p:nvPr/>
        </p:nvSpPr>
        <p:spPr>
          <a:xfrm>
            <a:off x="8458200" y="4718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  →  MECÁNICA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458200" y="49194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isométrica en Unity habilita el combate con apuntado.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75320" y="5568696"/>
            <a:ext cx="54864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61" name="Text 59"/>
          <p:cNvSpPr/>
          <p:nvPr/>
        </p:nvSpPr>
        <p:spPr>
          <a:xfrm>
            <a:off x="8458200" y="55229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  →  HISTORIA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58200" y="57241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tono absurdo construye el universo bizarro del laboratorio.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TÉTRADA DE SCHELL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  ·  UADE 2026</a:t>
            </a:r>
            <a:endParaRPr lang="en-US" sz="90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686623AC-846B-484C-A724-18E1FAB4F41A}"/>
              </a:ext>
            </a:extLst>
          </p:cNvPr>
          <p:cNvSpPr/>
          <p:nvPr/>
        </p:nvSpPr>
        <p:spPr>
          <a:xfrm flipV="1">
            <a:off x="3136392" y="4434840"/>
            <a:ext cx="1974964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[ 08 ]  ·  RELACIÓN ENTRE ELEMENTOS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Coherencia del sistema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articulación entre narrativa, sistemas y presentación.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7498080" cy="73152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45720" cy="7315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2971800"/>
            <a:ext cx="411480" cy="0"/>
          </a:xfrm>
          <a:prstGeom prst="line">
            <a:avLst/>
          </a:prstGeom>
          <a:noFill/>
          <a:ln w="1143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42900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2606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narrativa justifica cada mundo y sus enemigos.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447288"/>
            <a:ext cx="7498080" cy="73152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47288"/>
            <a:ext cx="45720" cy="7315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4472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97480" y="3813048"/>
            <a:ext cx="411480" cy="0"/>
          </a:xfrm>
          <a:prstGeom prst="line">
            <a:avLst/>
          </a:prstGeom>
          <a:noFill/>
          <a:ln w="1143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429000" y="34472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34472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dimensión se traduce en un puzzle jugable.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88536"/>
            <a:ext cx="7498080" cy="73152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288536"/>
            <a:ext cx="45720" cy="7315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88536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97480" y="4654296"/>
            <a:ext cx="411480" cy="0"/>
          </a:xfrm>
          <a:prstGeom prst="line">
            <a:avLst/>
          </a:prstGeom>
          <a:noFill/>
          <a:ln w="1143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429000" y="428853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428853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universo absurdo vuelve al juego inolvidable.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129784"/>
            <a:ext cx="7498080" cy="73152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129784"/>
            <a:ext cx="45720" cy="7315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12978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97480" y="5495544"/>
            <a:ext cx="411480" cy="0"/>
          </a:xfrm>
          <a:prstGeom prst="line">
            <a:avLst/>
          </a:prstGeom>
          <a:noFill/>
          <a:ln w="1143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429000" y="512978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FLUIDEZ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5129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garantiza una jugabilidad sólida y estable.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21040" y="2606040"/>
            <a:ext cx="3337560" cy="3246120"/>
          </a:xfrm>
          <a:prstGeom prst="rect">
            <a:avLst/>
          </a:prstGeom>
          <a:solidFill>
            <a:srgbClr val="242B3B"/>
          </a:solidFill>
          <a:ln w="10160">
            <a:solidFill>
              <a:srgbClr val="D4A0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2606040"/>
            <a:ext cx="3337560" cy="36576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2" name="Text 40"/>
          <p:cNvSpPr/>
          <p:nvPr/>
        </p:nvSpPr>
        <p:spPr>
          <a:xfrm>
            <a:off x="8321040" y="2606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CONCLUSIÓN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039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Coherencia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8503920" y="3931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narrativa, sistemas y presentación visual.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503920" y="5257800"/>
            <a:ext cx="731520" cy="36576"/>
          </a:xfrm>
          <a:prstGeom prst="rect">
            <a:avLst/>
          </a:prstGeom>
          <a:solidFill>
            <a:srgbClr val="E85A4F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5394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— </a:t>
            </a:r>
            <a:r>
              <a:rPr lang="en-US"/>
              <a:t>FSM TEAM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RELACIÓN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[ 10 ]  ·  REFERENCIAS E INFLUENCIAS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ADN del juego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9456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MegaBonk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318211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Diversión arcade inmediata y acción directa.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219456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219456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Vampire Survivors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0" y="318211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frente a hordas, progresión y rejugabilidad.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219456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219456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Miami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366760" y="318211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frenético, presión constante y combate intenso.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11480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11480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4572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 and Morty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77240" y="510235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absurdo y dimensiones alternativas.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43400" y="411480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411480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4572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 — LoL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572000" y="510235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 descontrolado, poder bruto.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411480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411480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66760" y="4572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Heimerdinger — LoL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366760" y="510235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0" name="Text 48"/>
          <p:cNvSpPr/>
          <p:nvPr/>
        </p:nvSpPr>
        <p:spPr>
          <a:xfrm>
            <a:off x="836676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 científico, estética tecnológica.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REFERENCIAS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[ 11 ]  ·  DESARROLLO DEL PROYECTO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Evidencias de producción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5079650" cy="25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visual del trabajo: concept art, escenas en Unity y gameplay.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EVIDENCIAS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  ·  UADE 2026</a:t>
            </a:r>
            <a:endParaRPr lang="en-US" sz="900" dirty="0"/>
          </a:p>
        </p:txBody>
      </p:sp>
      <p:pic>
        <p:nvPicPr>
          <p:cNvPr id="80" name="Imagen 79">
            <a:extLst>
              <a:ext uri="{FF2B5EF4-FFF2-40B4-BE49-F238E27FC236}">
                <a16:creationId xmlns:a16="http://schemas.microsoft.com/office/drawing/2014/main" id="{C658AEDC-B084-4B0B-BDE0-0E912D8F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41447"/>
            <a:ext cx="2504613" cy="1408845"/>
          </a:xfrm>
          <a:prstGeom prst="rect">
            <a:avLst/>
          </a:prstGeom>
        </p:spPr>
      </p:pic>
      <p:pic>
        <p:nvPicPr>
          <p:cNvPr id="82" name="Imagen 81">
            <a:extLst>
              <a:ext uri="{FF2B5EF4-FFF2-40B4-BE49-F238E27FC236}">
                <a16:creationId xmlns:a16="http://schemas.microsoft.com/office/drawing/2014/main" id="{8CC34F17-A9BC-4760-87B2-C1CD83608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347" y="2633365"/>
            <a:ext cx="2746704" cy="1545021"/>
          </a:xfrm>
          <a:prstGeom prst="rect">
            <a:avLst/>
          </a:prstGeom>
        </p:spPr>
      </p:pic>
      <p:pic>
        <p:nvPicPr>
          <p:cNvPr id="84" name="Imagen 83">
            <a:extLst>
              <a:ext uri="{FF2B5EF4-FFF2-40B4-BE49-F238E27FC236}">
                <a16:creationId xmlns:a16="http://schemas.microsoft.com/office/drawing/2014/main" id="{C00E78FC-25C7-4AE4-B3BF-C59C19AFE0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838902"/>
            <a:ext cx="2012731" cy="2012731"/>
          </a:xfrm>
          <a:prstGeom prst="rect">
            <a:avLst/>
          </a:prstGeom>
        </p:spPr>
      </p:pic>
      <p:pic>
        <p:nvPicPr>
          <p:cNvPr id="86" name="Imagen 85">
            <a:extLst>
              <a:ext uri="{FF2B5EF4-FFF2-40B4-BE49-F238E27FC236}">
                <a16:creationId xmlns:a16="http://schemas.microsoft.com/office/drawing/2014/main" id="{9BC936ED-94DD-4158-A9C3-9AB97B75D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470" y="3319940"/>
            <a:ext cx="2245755" cy="3007708"/>
          </a:xfrm>
          <a:prstGeom prst="rect">
            <a:avLst/>
          </a:prstGeom>
        </p:spPr>
      </p:pic>
      <p:pic>
        <p:nvPicPr>
          <p:cNvPr id="88" name="Imagen 87">
            <a:extLst>
              <a:ext uri="{FF2B5EF4-FFF2-40B4-BE49-F238E27FC236}">
                <a16:creationId xmlns:a16="http://schemas.microsoft.com/office/drawing/2014/main" id="{D11D609F-A0FC-48C7-AFDB-DAEBCC541C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0628" y="3703847"/>
            <a:ext cx="2654854" cy="2422633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893C7B9C-9F34-40DE-A0F6-B1BC8562BD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373" y="2417015"/>
            <a:ext cx="2270234" cy="2127554"/>
          </a:xfrm>
          <a:prstGeom prst="rect">
            <a:avLst/>
          </a:prstGeom>
        </p:spPr>
      </p:pic>
      <p:pic>
        <p:nvPicPr>
          <p:cNvPr id="92" name="Imagen 91">
            <a:extLst>
              <a:ext uri="{FF2B5EF4-FFF2-40B4-BE49-F238E27FC236}">
                <a16:creationId xmlns:a16="http://schemas.microsoft.com/office/drawing/2014/main" id="{6763BB89-164B-4863-8DEE-8975ADA273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4082" y="3973886"/>
            <a:ext cx="4052157" cy="2532070"/>
          </a:xfrm>
          <a:prstGeom prst="rect">
            <a:avLst/>
          </a:prstGeom>
        </p:spPr>
      </p:pic>
      <p:sp>
        <p:nvSpPr>
          <p:cNvPr id="93" name="Text 13">
            <a:hlinkClick r:id="rId10"/>
            <a:extLst>
              <a:ext uri="{FF2B5EF4-FFF2-40B4-BE49-F238E27FC236}">
                <a16:creationId xmlns:a16="http://schemas.microsoft.com/office/drawing/2014/main" id="{DC878661-D839-4FA4-BAAE-8B7984DFA529}"/>
              </a:ext>
            </a:extLst>
          </p:cNvPr>
          <p:cNvSpPr/>
          <p:nvPr/>
        </p:nvSpPr>
        <p:spPr>
          <a:xfrm>
            <a:off x="10887665" y="3682067"/>
            <a:ext cx="938574" cy="25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demo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[ 09 ]  ·  REPARTO DE TAREAS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10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Autoría por sección del GDD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3035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del Game Design Document  ·  completar con el integrante responsable.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06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2679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General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77440" y="2990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NUÑEZ DI MEO DANTE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2900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y contexto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813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77440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25196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519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7160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Mecánicas principales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636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77440" y="4636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07492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074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71600" y="5148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y estructura de niveles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5458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77440" y="5458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260604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260604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2606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223760" y="2679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assets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2376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03320" y="2993346"/>
            <a:ext cx="84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342900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342900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22376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223760" y="3813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29600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0" y="425196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425196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42519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22376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223760" y="4636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29600" y="4636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0" y="507492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00800" y="507492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5074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7223760" y="5148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223760" y="5458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29600" y="5458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DINAMITA  ·  FIDMAY  ·  NUÑEZ  ·  HUG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REPARTO GDD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  ·  UADE 2026</a:t>
            </a:r>
            <a:endParaRPr lang="en-US" sz="900" dirty="0"/>
          </a:p>
        </p:txBody>
      </p:sp>
      <p:sp>
        <p:nvSpPr>
          <p:cNvPr id="69" name="Text 43">
            <a:extLst>
              <a:ext uri="{FF2B5EF4-FFF2-40B4-BE49-F238E27FC236}">
                <a16:creationId xmlns:a16="http://schemas.microsoft.com/office/drawing/2014/main" id="{E382DF5B-623F-4A14-B999-5DD7B76B2A5D}"/>
              </a:ext>
            </a:extLst>
          </p:cNvPr>
          <p:cNvSpPr/>
          <p:nvPr/>
        </p:nvSpPr>
        <p:spPr>
          <a:xfrm>
            <a:off x="8382000" y="299397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</a:t>
            </a:r>
            <a:endParaRPr lang="en-US" sz="110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F2BE05CE-8E96-4A7F-AD50-5366D2C0FD7C}"/>
              </a:ext>
            </a:extLst>
          </p:cNvPr>
          <p:cNvSpPr/>
          <p:nvPr/>
        </p:nvSpPr>
        <p:spPr>
          <a:xfrm>
            <a:off x="2377440" y="381141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NUÑEZ DI MEO DANTE</a:t>
            </a:r>
            <a:endParaRPr lang="en-US" sz="1100" dirty="0"/>
          </a:p>
        </p:txBody>
      </p:sp>
      <p:sp>
        <p:nvSpPr>
          <p:cNvPr id="71" name="Text 43">
            <a:extLst>
              <a:ext uri="{FF2B5EF4-FFF2-40B4-BE49-F238E27FC236}">
                <a16:creationId xmlns:a16="http://schemas.microsoft.com/office/drawing/2014/main" id="{023289DE-2B31-4003-88DE-C1EC11F3F45D}"/>
              </a:ext>
            </a:extLst>
          </p:cNvPr>
          <p:cNvSpPr/>
          <p:nvPr/>
        </p:nvSpPr>
        <p:spPr>
          <a:xfrm>
            <a:off x="3703320" y="3814677"/>
            <a:ext cx="84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</a:t>
            </a:r>
            <a:endParaRPr lang="en-US" sz="1100" dirty="0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D132AA1C-C500-47C6-9024-E79CD409D4BC}"/>
              </a:ext>
            </a:extLst>
          </p:cNvPr>
          <p:cNvSpPr/>
          <p:nvPr/>
        </p:nvSpPr>
        <p:spPr>
          <a:xfrm>
            <a:off x="8229600" y="463343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NUÑEZ DI MEO DANTE</a:t>
            </a:r>
            <a:endParaRPr lang="en-US" sz="1100" dirty="0"/>
          </a:p>
        </p:txBody>
      </p:sp>
      <p:sp>
        <p:nvSpPr>
          <p:cNvPr id="75" name="Text 43">
            <a:extLst>
              <a:ext uri="{FF2B5EF4-FFF2-40B4-BE49-F238E27FC236}">
                <a16:creationId xmlns:a16="http://schemas.microsoft.com/office/drawing/2014/main" id="{507D1B05-0493-4C06-ACB2-7C750790E385}"/>
              </a:ext>
            </a:extLst>
          </p:cNvPr>
          <p:cNvSpPr/>
          <p:nvPr/>
        </p:nvSpPr>
        <p:spPr>
          <a:xfrm>
            <a:off x="9555480" y="4636691"/>
            <a:ext cx="84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</a:t>
            </a:r>
            <a:endParaRPr lang="en-US" sz="1100" dirty="0"/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008E3229-00D4-480D-962E-037599F97BFB}"/>
              </a:ext>
            </a:extLst>
          </p:cNvPr>
          <p:cNvSpPr/>
          <p:nvPr/>
        </p:nvSpPr>
        <p:spPr>
          <a:xfrm>
            <a:off x="2377440" y="463112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FIDMAY AGUSTÍN</a:t>
            </a:r>
            <a:endParaRPr lang="en-US" sz="1100" dirty="0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07B9C9C7-F00E-42BE-83DD-7521320A0608}"/>
              </a:ext>
            </a:extLst>
          </p:cNvPr>
          <p:cNvSpPr/>
          <p:nvPr/>
        </p:nvSpPr>
        <p:spPr>
          <a:xfrm>
            <a:off x="3703320" y="4634379"/>
            <a:ext cx="84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</a:t>
            </a:r>
            <a:endParaRPr lang="en-US" sz="1100" dirty="0"/>
          </a:p>
        </p:txBody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03EA6B8D-2974-4C3D-99AC-07DEEFFB723D}"/>
              </a:ext>
            </a:extLst>
          </p:cNvPr>
          <p:cNvSpPr/>
          <p:nvPr/>
        </p:nvSpPr>
        <p:spPr>
          <a:xfrm>
            <a:off x="2377440" y="545870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FIDMAY AGUSTÍN</a:t>
            </a:r>
            <a:endParaRPr lang="en-US" sz="1100" dirty="0"/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73E6BB2F-17E9-41DB-8CE2-F414A598C39B}"/>
              </a:ext>
            </a:extLst>
          </p:cNvPr>
          <p:cNvSpPr/>
          <p:nvPr/>
        </p:nvSpPr>
        <p:spPr>
          <a:xfrm>
            <a:off x="3703320" y="5461963"/>
            <a:ext cx="84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</a:t>
            </a:r>
            <a:endParaRPr lang="en-US" sz="1100" dirty="0"/>
          </a:p>
        </p:txBody>
      </p:sp>
      <p:sp>
        <p:nvSpPr>
          <p:cNvPr id="80" name="Text 19">
            <a:extLst>
              <a:ext uri="{FF2B5EF4-FFF2-40B4-BE49-F238E27FC236}">
                <a16:creationId xmlns:a16="http://schemas.microsoft.com/office/drawing/2014/main" id="{51DA1066-ED3A-4C7F-AE4B-6ABFF1D508AE}"/>
              </a:ext>
            </a:extLst>
          </p:cNvPr>
          <p:cNvSpPr/>
          <p:nvPr/>
        </p:nvSpPr>
        <p:spPr>
          <a:xfrm>
            <a:off x="8208578" y="299334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FIDMAY AGUSTÍN</a:t>
            </a:r>
            <a:endParaRPr lang="en-US" sz="1100" dirty="0"/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9C0D458F-39FE-4B2C-9955-BA70C4160B01}"/>
              </a:ext>
            </a:extLst>
          </p:cNvPr>
          <p:cNvSpPr/>
          <p:nvPr/>
        </p:nvSpPr>
        <p:spPr>
          <a:xfrm>
            <a:off x="8208578" y="380789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B8B3A2"/>
                </a:solidFill>
                <a:latin typeface="Consolas" pitchFamily="34" charset="0"/>
              </a:rPr>
              <a:t>HUG JUAN IGNACIO</a:t>
            </a:r>
            <a:endParaRPr lang="en-US" sz="1100" dirty="0"/>
          </a:p>
        </p:txBody>
      </p:sp>
      <p:sp>
        <p:nvSpPr>
          <p:cNvPr id="83" name="Text 43">
            <a:extLst>
              <a:ext uri="{FF2B5EF4-FFF2-40B4-BE49-F238E27FC236}">
                <a16:creationId xmlns:a16="http://schemas.microsoft.com/office/drawing/2014/main" id="{5C31CAF0-FA26-4A31-AD9F-FDD8F2EA7393}"/>
              </a:ext>
            </a:extLst>
          </p:cNvPr>
          <p:cNvSpPr/>
          <p:nvPr/>
        </p:nvSpPr>
        <p:spPr>
          <a:xfrm>
            <a:off x="9523948" y="3816411"/>
            <a:ext cx="84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</a:t>
            </a:r>
            <a:endParaRPr lang="en-US" sz="1100" dirty="0"/>
          </a:p>
        </p:txBody>
      </p:sp>
      <p:sp>
        <p:nvSpPr>
          <p:cNvPr id="84" name="Text 19">
            <a:extLst>
              <a:ext uri="{FF2B5EF4-FFF2-40B4-BE49-F238E27FC236}">
                <a16:creationId xmlns:a16="http://schemas.microsoft.com/office/drawing/2014/main" id="{1220400D-A00A-44C0-940F-AF5FF1ECCC09}"/>
              </a:ext>
            </a:extLst>
          </p:cNvPr>
          <p:cNvSpPr/>
          <p:nvPr/>
        </p:nvSpPr>
        <p:spPr>
          <a:xfrm>
            <a:off x="8233803" y="545345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B8B3A2"/>
                </a:solidFill>
                <a:latin typeface="Consolas" pitchFamily="34" charset="0"/>
              </a:rPr>
              <a:t>HUG JUAN IGNACIO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4864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01752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66344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30936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 /  FIN DE LA PRESENTACIÓN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240280"/>
            <a:ext cx="137160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514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Freaky Super Mesh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claros.   Acción intensa.   Identidad propia.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GRACIAS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DINAMITA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Fidmay  ·  </a:t>
            </a:r>
            <a:r>
              <a:rPr lang="en-US" sz="1300" dirty="0" err="1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Nuñez</a:t>
            </a: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Hug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UADE  ·  Diseño de Videojuegos  · 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  ·  UADE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1324</Words>
  <Application>Microsoft Office PowerPoint</Application>
  <PresentationFormat>Panorámica</PresentationFormat>
  <Paragraphs>352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Freaky Super Mesh - Análisis Teórico</dc:title>
  <dc:subject>PptxGenJS Presentation</dc:subject>
  <dc:creator>Fidmay, Nuñez Di Meo, Hug</dc:creator>
  <cp:lastModifiedBy>Juan Ignacio Hug</cp:lastModifiedBy>
  <cp:revision>6</cp:revision>
  <dcterms:created xsi:type="dcterms:W3CDTF">2026-04-24T12:16:20Z</dcterms:created>
  <dcterms:modified xsi:type="dcterms:W3CDTF">2026-04-24T13:41:15Z</dcterms:modified>
</cp:coreProperties>
</file>