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4864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219456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01752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66344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30936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PROYECTO  /  DISEÑO DE VIDEOJUEGOS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966960" y="594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 · 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12801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spc="300" kern="0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FREAKY</a:t>
            </a:r>
            <a:endParaRPr lang="en-US" sz="8800" dirty="0"/>
          </a:p>
        </p:txBody>
      </p:sp>
      <p:sp>
        <p:nvSpPr>
          <p:cNvPr id="23" name="Text 21"/>
          <p:cNvSpPr/>
          <p:nvPr/>
        </p:nvSpPr>
        <p:spPr>
          <a:xfrm>
            <a:off x="685800" y="25603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spc="300" kern="0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SUPER MESH</a:t>
            </a:r>
            <a:endParaRPr lang="en-US" sz="8800" dirty="0"/>
          </a:p>
        </p:txBody>
      </p:sp>
      <p:sp>
        <p:nvSpPr>
          <p:cNvPr id="24" name="Text 22"/>
          <p:cNvSpPr/>
          <p:nvPr/>
        </p:nvSpPr>
        <p:spPr>
          <a:xfrm>
            <a:off x="731520" y="3931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Rogue-lite dimensional  ·  análisis teórico de diseño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1520" y="4434840"/>
            <a:ext cx="128016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26" name="Shape 24"/>
          <p:cNvSpPr/>
          <p:nvPr/>
        </p:nvSpPr>
        <p:spPr>
          <a:xfrm>
            <a:off x="2103120" y="4434840"/>
            <a:ext cx="365760" cy="36576"/>
          </a:xfrm>
          <a:prstGeom prst="rect">
            <a:avLst/>
          </a:prstGeom>
          <a:solidFill>
            <a:srgbClr val="E85A4F"/>
          </a:solidFill>
          <a:ln/>
        </p:spPr>
      </p:sp>
      <p:sp>
        <p:nvSpPr>
          <p:cNvPr id="27" name="Shape 25"/>
          <p:cNvSpPr/>
          <p:nvPr/>
        </p:nvSpPr>
        <p:spPr>
          <a:xfrm>
            <a:off x="2560320" y="4434840"/>
            <a:ext cx="182880" cy="36576"/>
          </a:xfrm>
          <a:prstGeom prst="rect">
            <a:avLst/>
          </a:prstGeom>
          <a:solidFill>
            <a:srgbClr val="4FB3A9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Fidmay, Agustín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5257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Nuñez Di Meo, Dante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5532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Hug, Juan Ignacio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6344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CÁTEDRA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344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Aparicio, Lucas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663440" y="5257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Ulrich, Gonzalo Ezequiel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95360" y="4663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UADE ·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95360" y="4983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Videojuegos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595360" y="5257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Cuatrimestre · Tarde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595360" y="5532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24 / 04 / 2026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31520" y="6035040"/>
            <a:ext cx="10698480" cy="0"/>
          </a:xfrm>
          <a:prstGeom prst="line">
            <a:avLst/>
          </a:prstGeom>
          <a:noFill/>
          <a:ln w="6350">
            <a:solidFill>
              <a:srgbClr val="3A425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EQUIPO DINAMITA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966960" y="6126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 00.1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 · FREAKY SUPER MESH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13  ·  UADE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[ 01 ]  ·  RESUMEN DEL JUEGO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896112"/>
            <a:ext cx="32004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100" kern="0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Action Rogue-lite dimensional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48640" y="20116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Dr. Emilio queda atrapado entre mundos tras un experimento fallido. Debe sobrevivir oleadas, vencer jefes y volver a casa.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2697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PROPUESTA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01752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Freaky Super Mesh es un Action Rogue-lite single-player para PC. Desde una cámara cenital inclinada, el jugador atraviesa dimensiones absurdas derrotando enemigos temáticos y a un jefe final por mundo. El combate se construye sobre tres pilares: movimiento, bloqueo y un Estado Eufórico que recompensa la ofensiva continua.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DE JUEGO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005840" cy="365760"/>
          </a:xfrm>
          <a:prstGeom prst="rect">
            <a:avLst/>
          </a:prstGeom>
          <a:ln w="7620">
            <a:solidFill>
              <a:srgbClr val="D4A0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074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572768" y="5257800"/>
            <a:ext cx="109728" cy="0"/>
          </a:xfrm>
          <a:prstGeom prst="line">
            <a:avLst/>
          </a:prstGeom>
          <a:noFill/>
          <a:ln w="10160">
            <a:solidFill>
              <a:srgbClr val="D4A03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755648" y="5074920"/>
            <a:ext cx="1005840" cy="365760"/>
          </a:xfrm>
          <a:prstGeom prst="rect">
            <a:avLst/>
          </a:prstGeom>
          <a:ln w="7620">
            <a:solidFill>
              <a:srgbClr val="D4A0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55648" y="5074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Oleadas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79776" y="5257800"/>
            <a:ext cx="109728" cy="0"/>
          </a:xfrm>
          <a:prstGeom prst="line">
            <a:avLst/>
          </a:prstGeom>
          <a:noFill/>
          <a:ln w="10160">
            <a:solidFill>
              <a:srgbClr val="D4A03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962656" y="5074920"/>
            <a:ext cx="1005840" cy="365760"/>
          </a:xfrm>
          <a:prstGeom prst="rect">
            <a:avLst/>
          </a:prstGeom>
          <a:ln w="7620">
            <a:solidFill>
              <a:srgbClr val="D4A0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62656" y="5074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Euforia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986784" y="5257800"/>
            <a:ext cx="109728" cy="0"/>
          </a:xfrm>
          <a:prstGeom prst="line">
            <a:avLst/>
          </a:prstGeom>
          <a:noFill/>
          <a:ln w="10160">
            <a:solidFill>
              <a:srgbClr val="D4A03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169664" y="5074920"/>
            <a:ext cx="1005840" cy="365760"/>
          </a:xfrm>
          <a:prstGeom prst="rect">
            <a:avLst/>
          </a:prstGeom>
          <a:ln w="7620">
            <a:solidFill>
              <a:srgbClr val="D4A0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9664" y="5074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93792" y="5257800"/>
            <a:ext cx="109728" cy="0"/>
          </a:xfrm>
          <a:prstGeom prst="line">
            <a:avLst/>
          </a:prstGeom>
          <a:noFill/>
          <a:ln w="10160">
            <a:solidFill>
              <a:srgbClr val="D4A03C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376672" y="5074920"/>
            <a:ext cx="1005840" cy="365760"/>
          </a:xfrm>
          <a:prstGeom prst="rect">
            <a:avLst/>
          </a:prstGeom>
          <a:ln w="7620">
            <a:solidFill>
              <a:srgbClr val="D4A0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76672" y="5074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dim.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0" y="2011680"/>
            <a:ext cx="3886200" cy="429768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0" y="2011680"/>
            <a:ext cx="3886200" cy="36576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35" name="Text 33"/>
          <p:cNvSpPr/>
          <p:nvPr/>
        </p:nvSpPr>
        <p:spPr>
          <a:xfrm>
            <a:off x="7955280" y="20391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FICHA TÉCNICA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01000" y="2514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GÉNERO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001000" y="2715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Rogue-lite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001000" y="2990088"/>
            <a:ext cx="342900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01000" y="30266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PLATAFORMA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001000" y="3227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001000" y="3502152"/>
            <a:ext cx="342900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01000" y="35387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JUGADORES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001000" y="3739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Offline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001000" y="4014216"/>
            <a:ext cx="342900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01000" y="40507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PERSONAJE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001000" y="4251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Emilio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001000" y="4526280"/>
            <a:ext cx="342900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01000" y="45628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CÁMARA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001000" y="47640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Cenital 53° (iso)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001000" y="5038344"/>
            <a:ext cx="342900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01000" y="5074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001000" y="5276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WASD + Mouse + Shift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8001000" y="5550408"/>
            <a:ext cx="342900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01000" y="558698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001000" y="5788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 · FREAKY SUPER MESH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48640" y="653796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13  ·  UADE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[ 02 ]  ·  FRAMEWORK MDA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896112"/>
            <a:ext cx="32004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100" kern="0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 diseñador al jugador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Hunicke, LeBlanc &amp; Zubek  ·  la dirección del flujo es la clave del análisis.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3520440" cy="2926080"/>
          </a:xfrm>
          <a:prstGeom prst="rect">
            <a:avLst/>
          </a:prstGeom>
          <a:solidFill>
            <a:srgbClr val="1C2230"/>
          </a:solidFill>
          <a:ln w="7620">
            <a:solidFill>
              <a:srgbClr val="3A42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697480"/>
            <a:ext cx="3520440" cy="36576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8016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3246120"/>
            <a:ext cx="365760" cy="27432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3832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que diseñamos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7947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Reglas, sistemas, componentes del juego.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7240" y="5257800"/>
            <a:ext cx="306324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30352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62272" y="2697480"/>
            <a:ext cx="3520440" cy="2926080"/>
          </a:xfrm>
          <a:prstGeom prst="rect">
            <a:avLst/>
          </a:prstGeom>
          <a:solidFill>
            <a:srgbClr val="1C2230"/>
          </a:solidFill>
          <a:ln w="7620">
            <a:solidFill>
              <a:srgbClr val="3A425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62272" y="2697480"/>
            <a:ext cx="3520440" cy="36576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27" name="Text 25"/>
          <p:cNvSpPr/>
          <p:nvPr/>
        </p:nvSpPr>
        <p:spPr>
          <a:xfrm>
            <a:off x="4690872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93792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90872" y="3246120"/>
            <a:ext cx="365760" cy="27432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30" name="Text 28"/>
          <p:cNvSpPr/>
          <p:nvPr/>
        </p:nvSpPr>
        <p:spPr>
          <a:xfrm>
            <a:off x="4690872" y="33832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que emerge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90872" y="37947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emergente en tiempo real.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90872" y="5257800"/>
            <a:ext cx="306324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90872" y="530352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375904" y="2697480"/>
            <a:ext cx="3520440" cy="2926080"/>
          </a:xfrm>
          <a:prstGeom prst="rect">
            <a:avLst/>
          </a:prstGeom>
          <a:solidFill>
            <a:srgbClr val="1C2230"/>
          </a:solidFill>
          <a:ln w="7620">
            <a:solidFill>
              <a:srgbClr val="3A425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75904" y="2697480"/>
            <a:ext cx="3520440" cy="36576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36" name="Text 34"/>
          <p:cNvSpPr/>
          <p:nvPr/>
        </p:nvSpPr>
        <p:spPr>
          <a:xfrm>
            <a:off x="8604504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107424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AESTHETICS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604504" y="3246120"/>
            <a:ext cx="365760" cy="27432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39" name="Text 37"/>
          <p:cNvSpPr/>
          <p:nvPr/>
        </p:nvSpPr>
        <p:spPr>
          <a:xfrm>
            <a:off x="8604504" y="33832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que se siente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04504" y="37947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emocionales del jugador.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604504" y="5257800"/>
            <a:ext cx="306324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04504" y="530352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0" y="4160520"/>
            <a:ext cx="274320" cy="0"/>
          </a:xfrm>
          <a:prstGeom prst="line">
            <a:avLst/>
          </a:prstGeom>
          <a:noFill/>
          <a:ln w="19050">
            <a:solidFill>
              <a:srgbClr val="D4A03C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028432" y="4160520"/>
            <a:ext cx="274320" cy="0"/>
          </a:xfrm>
          <a:prstGeom prst="line">
            <a:avLst/>
          </a:prstGeom>
          <a:noFill/>
          <a:ln w="19050">
            <a:solidFill>
              <a:srgbClr val="D4A03C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5760720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DISEÑADOR  parte de Mechanics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63640" y="5760720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4FB3A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JUGADOR  experimenta desde Aesthetics  ←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 · FREAKY SUPER MESH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8640" y="653796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MDA · FLUJO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13  ·  UADE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[ 03 ]  ·  MDA · 01 MECHANICS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896112"/>
            <a:ext cx="32004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Mecánicas del sistema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con las que se construye el juego.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5532120" cy="640080"/>
          </a:xfrm>
          <a:prstGeom prst="rect">
            <a:avLst/>
          </a:prstGeom>
          <a:solidFill>
            <a:srgbClr val="1C2230"/>
          </a:solidFill>
          <a:ln w="5080">
            <a:solidFill>
              <a:srgbClr val="3A42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606040"/>
            <a:ext cx="36576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M.01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267919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29535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WASD en cuatro direcciones.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2606040"/>
            <a:ext cx="5532120" cy="640080"/>
          </a:xfrm>
          <a:prstGeom prst="rect">
            <a:avLst/>
          </a:prstGeom>
          <a:solidFill>
            <a:srgbClr val="1C2230"/>
          </a:solidFill>
          <a:ln w="5080">
            <a:solidFill>
              <a:srgbClr val="3A42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2606040"/>
            <a:ext cx="36576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78040" y="267919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Apuntado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78040" y="29535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con el mouse.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337560"/>
            <a:ext cx="5532120" cy="640080"/>
          </a:xfrm>
          <a:prstGeom prst="rect">
            <a:avLst/>
          </a:prstGeom>
          <a:solidFill>
            <a:srgbClr val="1C2230"/>
          </a:solidFill>
          <a:ln w="5080">
            <a:solidFill>
              <a:srgbClr val="3A425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337560"/>
            <a:ext cx="36576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M.03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17320" y="34107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17320" y="368503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de probetas.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09360" y="3337560"/>
            <a:ext cx="5532120" cy="640080"/>
          </a:xfrm>
          <a:prstGeom prst="rect">
            <a:avLst/>
          </a:prstGeom>
          <a:solidFill>
            <a:srgbClr val="1C2230"/>
          </a:solidFill>
          <a:ln w="5080">
            <a:solidFill>
              <a:srgbClr val="3A425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3337560"/>
            <a:ext cx="36576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78040" y="34107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178040" y="368503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con Shift.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069080"/>
            <a:ext cx="5532120" cy="640080"/>
          </a:xfrm>
          <a:prstGeom prst="rect">
            <a:avLst/>
          </a:prstGeom>
          <a:solidFill>
            <a:srgbClr val="1C2230"/>
          </a:solidFill>
          <a:ln w="5080">
            <a:solidFill>
              <a:srgbClr val="3A425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069080"/>
            <a:ext cx="36576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M.05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417320" y="414223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Enemigos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417320" y="441655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Oleadas temáticas por dimensión.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09360" y="4069080"/>
            <a:ext cx="5532120" cy="640080"/>
          </a:xfrm>
          <a:prstGeom prst="rect">
            <a:avLst/>
          </a:prstGeom>
          <a:solidFill>
            <a:srgbClr val="1C2230"/>
          </a:solidFill>
          <a:ln w="5080">
            <a:solidFill>
              <a:srgbClr val="3A425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4069080"/>
            <a:ext cx="36576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24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M.06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78040" y="414223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Bosses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178040" y="441655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al cierre de cada dimensión.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4800600"/>
            <a:ext cx="5532120" cy="640080"/>
          </a:xfrm>
          <a:prstGeom prst="rect">
            <a:avLst/>
          </a:prstGeom>
          <a:solidFill>
            <a:srgbClr val="1C2230"/>
          </a:solidFill>
          <a:ln w="5080">
            <a:solidFill>
              <a:srgbClr val="3A425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" y="4800600"/>
            <a:ext cx="36576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48" name="Text 46"/>
          <p:cNvSpPr/>
          <p:nvPr/>
        </p:nvSpPr>
        <p:spPr>
          <a:xfrm>
            <a:off x="731520" y="4800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M.07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417320" y="487375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417320" y="514807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numérico con daño recibido.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309360" y="4800600"/>
            <a:ext cx="5532120" cy="640080"/>
          </a:xfrm>
          <a:prstGeom prst="rect">
            <a:avLst/>
          </a:prstGeom>
          <a:solidFill>
            <a:srgbClr val="1C2230"/>
          </a:solidFill>
          <a:ln w="5080">
            <a:solidFill>
              <a:srgbClr val="3A425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09360" y="4800600"/>
            <a:ext cx="36576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53" name="Text 51"/>
          <p:cNvSpPr/>
          <p:nvPr/>
        </p:nvSpPr>
        <p:spPr>
          <a:xfrm>
            <a:off x="6492240" y="4800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M.08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178040" y="487375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Eufórico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178040" y="514807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activa al combinar bloqueo y kills.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48640" y="5532120"/>
            <a:ext cx="5532120" cy="640080"/>
          </a:xfrm>
          <a:prstGeom prst="rect">
            <a:avLst/>
          </a:prstGeom>
          <a:solidFill>
            <a:srgbClr val="1C2230"/>
          </a:solidFill>
          <a:ln w="5080">
            <a:solidFill>
              <a:srgbClr val="3A425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8640" y="5532120"/>
            <a:ext cx="36576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58" name="Text 56"/>
          <p:cNvSpPr/>
          <p:nvPr/>
        </p:nvSpPr>
        <p:spPr>
          <a:xfrm>
            <a:off x="731520" y="5532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M.09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417320" y="560527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 temporal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1417320" y="587959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mejoradas durante la euforia.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309360" y="5532120"/>
            <a:ext cx="5532120" cy="640080"/>
          </a:xfrm>
          <a:prstGeom prst="rect">
            <a:avLst/>
          </a:prstGeom>
          <a:solidFill>
            <a:srgbClr val="1C2230"/>
          </a:solidFill>
          <a:ln w="5080">
            <a:solidFill>
              <a:srgbClr val="3A425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309360" y="5532120"/>
            <a:ext cx="36576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63" name="Text 61"/>
          <p:cNvSpPr/>
          <p:nvPr/>
        </p:nvSpPr>
        <p:spPr>
          <a:xfrm>
            <a:off x="6492240" y="5532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M.10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178040" y="560527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Regeneración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178040" y="587959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de vida en euforia.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 · FREAKY SUPER MESH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48640" y="653796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MDA · MECHANICS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13  ·  UADE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[ 04 ]  ·  MDA · 02 DYNAMICS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896112"/>
            <a:ext cx="32004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Dinámicas emergentes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ocurre cuando el jugador entra en contacto con las reglas.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3611880" cy="13716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606040"/>
            <a:ext cx="3611880" cy="27432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D.01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 constante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3337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Esquivar y reposicionarse es parte del combate.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2606040"/>
            <a:ext cx="3611880" cy="13716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2606040"/>
            <a:ext cx="3611880" cy="27432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2628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26280" y="3337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espacio frente a hordas.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38160" y="2606040"/>
            <a:ext cx="3611880" cy="13716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2606040"/>
            <a:ext cx="3611880" cy="27432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28" name="Text 26"/>
          <p:cNvSpPr/>
          <p:nvPr/>
        </p:nvSpPr>
        <p:spPr>
          <a:xfrm>
            <a:off x="832104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D.03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2104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Bloqueo estratégico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21040" y="3337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activa como recurso de supervivencia.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160520"/>
            <a:ext cx="3611880" cy="13716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160520"/>
            <a:ext cx="3611880" cy="27432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" y="4526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 ofensivo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1520" y="4892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rápido acelera el estado eufórico.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343400" y="4160520"/>
            <a:ext cx="3611880" cy="13716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43400" y="4160520"/>
            <a:ext cx="3611880" cy="27432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D.05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26280" y="4526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26280" y="4892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 patrones de enemigos y jefes.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38160" y="4160520"/>
            <a:ext cx="3611880" cy="13716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38160" y="4160520"/>
            <a:ext cx="3611880" cy="27432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43" name="Text 41"/>
          <p:cNvSpPr/>
          <p:nvPr/>
        </p:nvSpPr>
        <p:spPr>
          <a:xfrm>
            <a:off x="8321040" y="4160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D.06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321040" y="4526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creciente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321040" y="4892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ritmo aumenta partida a partida.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5760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RITMO DE PARTIDA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85216" y="6053328"/>
            <a:ext cx="109728" cy="109728"/>
          </a:xfrm>
          <a:prstGeom prst="ellipse">
            <a:avLst/>
          </a:prstGeom>
          <a:solidFill>
            <a:srgbClr val="D4A03C"/>
          </a:solidFill>
          <a:ln/>
        </p:spPr>
      </p:sp>
      <p:sp>
        <p:nvSpPr>
          <p:cNvPr id="48" name="Text 46"/>
          <p:cNvSpPr/>
          <p:nvPr/>
        </p:nvSpPr>
        <p:spPr>
          <a:xfrm>
            <a:off x="777240" y="59893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31520" y="6108192"/>
            <a:ext cx="1938528" cy="0"/>
          </a:xfrm>
          <a:prstGeom prst="line">
            <a:avLst/>
          </a:prstGeom>
          <a:noFill/>
          <a:ln w="6350">
            <a:solidFill>
              <a:srgbClr val="3A425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98064" y="6053328"/>
            <a:ext cx="109728" cy="109728"/>
          </a:xfrm>
          <a:prstGeom prst="ellipse">
            <a:avLst/>
          </a:prstGeom>
          <a:solidFill>
            <a:srgbClr val="D4A03C"/>
          </a:solidFill>
          <a:ln/>
        </p:spPr>
      </p:sp>
      <p:sp>
        <p:nvSpPr>
          <p:cNvPr id="51" name="Text 49"/>
          <p:cNvSpPr/>
          <p:nvPr/>
        </p:nvSpPr>
        <p:spPr>
          <a:xfrm>
            <a:off x="2990088" y="59893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enemigos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944368" y="6108192"/>
            <a:ext cx="1938528" cy="0"/>
          </a:xfrm>
          <a:prstGeom prst="line">
            <a:avLst/>
          </a:prstGeom>
          <a:noFill/>
          <a:ln w="6350">
            <a:solidFill>
              <a:srgbClr val="3A425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10912" y="6053328"/>
            <a:ext cx="109728" cy="109728"/>
          </a:xfrm>
          <a:prstGeom prst="ellipse">
            <a:avLst/>
          </a:prstGeom>
          <a:solidFill>
            <a:srgbClr val="D4A03C"/>
          </a:solidFill>
          <a:ln/>
        </p:spPr>
      </p:sp>
      <p:sp>
        <p:nvSpPr>
          <p:cNvPr id="54" name="Text 52"/>
          <p:cNvSpPr/>
          <p:nvPr/>
        </p:nvSpPr>
        <p:spPr>
          <a:xfrm>
            <a:off x="5202936" y="59893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creciente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157216" y="6108192"/>
            <a:ext cx="1938528" cy="0"/>
          </a:xfrm>
          <a:prstGeom prst="line">
            <a:avLst/>
          </a:prstGeom>
          <a:noFill/>
          <a:ln w="6350">
            <a:solidFill>
              <a:srgbClr val="3A425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223760" y="6053328"/>
            <a:ext cx="109728" cy="109728"/>
          </a:xfrm>
          <a:prstGeom prst="ellipse">
            <a:avLst/>
          </a:prstGeom>
          <a:solidFill>
            <a:srgbClr val="D4A03C"/>
          </a:solidFill>
          <a:ln/>
        </p:spPr>
      </p:sp>
      <p:sp>
        <p:nvSpPr>
          <p:cNvPr id="57" name="Text 55"/>
          <p:cNvSpPr/>
          <p:nvPr/>
        </p:nvSpPr>
        <p:spPr>
          <a:xfrm>
            <a:off x="7415784" y="59893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final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370064" y="6108192"/>
            <a:ext cx="1938528" cy="0"/>
          </a:xfrm>
          <a:prstGeom prst="line">
            <a:avLst/>
          </a:prstGeom>
          <a:noFill/>
          <a:ln w="6350">
            <a:solidFill>
              <a:srgbClr val="3A425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436608" y="6053328"/>
            <a:ext cx="109728" cy="109728"/>
          </a:xfrm>
          <a:prstGeom prst="ellipse">
            <a:avLst/>
          </a:prstGeom>
          <a:solidFill>
            <a:srgbClr val="E85A4F"/>
          </a:solidFill>
          <a:ln/>
        </p:spPr>
      </p:sp>
      <p:sp>
        <p:nvSpPr>
          <p:cNvPr id="60" name="Text 58"/>
          <p:cNvSpPr/>
          <p:nvPr/>
        </p:nvSpPr>
        <p:spPr>
          <a:xfrm>
            <a:off x="9628632" y="59893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dimensión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 · FREAKY SUPER MESH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48640" y="653796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MDA · DYNAMICS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13  ·  UADE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[ 05 ]  ·  MDA · 03 AESTHETICS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896112"/>
            <a:ext cx="32004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100" kern="0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Las 8 categorías de Hunicke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Identificamos cuáles aplican al juego y cuáles quedan fuera de alcance.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2743200" cy="178308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606040"/>
            <a:ext cx="36576" cy="1783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8" name="Shape 16"/>
          <p:cNvSpPr/>
          <p:nvPr/>
        </p:nvSpPr>
        <p:spPr>
          <a:xfrm>
            <a:off x="2606040" y="2743200"/>
            <a:ext cx="548640" cy="274320"/>
          </a:xfrm>
          <a:prstGeom prst="rect">
            <a:avLst/>
          </a:prstGeom>
          <a:solidFill>
            <a:srgbClr val="D4A03C"/>
          </a:solidFill>
          <a:ln w="8890">
            <a:solidFill>
              <a:srgbClr val="D4A0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21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A.01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3520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Combate frenético, feedback del lanzamiento y del estado eufórico.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10712" y="2606040"/>
            <a:ext cx="2743200" cy="178308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10712" y="2606040"/>
            <a:ext cx="36576" cy="1783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25" name="Shape 23"/>
          <p:cNvSpPr/>
          <p:nvPr/>
        </p:nvSpPr>
        <p:spPr>
          <a:xfrm>
            <a:off x="5468112" y="2743200"/>
            <a:ext cx="548640" cy="274320"/>
          </a:xfrm>
          <a:prstGeom prst="rect">
            <a:avLst/>
          </a:prstGeom>
          <a:solidFill>
            <a:srgbClr val="D4A03C"/>
          </a:solidFill>
          <a:ln w="8890">
            <a:solidFill>
              <a:srgbClr val="D4A0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68112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21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93592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A.02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93592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593592" y="3520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Universo bizarro: un laboratorio que se rebela contra su dueño.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72784" y="2606040"/>
            <a:ext cx="2743200" cy="178308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72784" y="2606040"/>
            <a:ext cx="36576" cy="1783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32" name="Shape 30"/>
          <p:cNvSpPr/>
          <p:nvPr/>
        </p:nvSpPr>
        <p:spPr>
          <a:xfrm>
            <a:off x="8330184" y="2743200"/>
            <a:ext cx="548640" cy="274320"/>
          </a:xfrm>
          <a:prstGeom prst="rect">
            <a:avLst/>
          </a:prstGeom>
          <a:solidFill>
            <a:srgbClr val="D4A03C"/>
          </a:solidFill>
          <a:ln w="8890">
            <a:solidFill>
              <a:srgbClr val="D4A0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0184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21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55664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A.03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55664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55664" y="3520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Emilio intenta volver a casa tras un experimento fallido.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134856" y="2606040"/>
            <a:ext cx="2743200" cy="178308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34856" y="2606040"/>
            <a:ext cx="36576" cy="1783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39" name="Shape 37"/>
          <p:cNvSpPr/>
          <p:nvPr/>
        </p:nvSpPr>
        <p:spPr>
          <a:xfrm>
            <a:off x="11192256" y="2743200"/>
            <a:ext cx="548640" cy="274320"/>
          </a:xfrm>
          <a:prstGeom prst="rect">
            <a:avLst/>
          </a:prstGeom>
          <a:solidFill>
            <a:srgbClr val="D4A03C"/>
          </a:solidFill>
          <a:ln w="8890">
            <a:solidFill>
              <a:srgbClr val="D4A0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92256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21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317736" y="2788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A.04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317736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317736" y="3520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frente a oleadas y jefes con dificultad creciente.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4553712"/>
            <a:ext cx="2743200" cy="178308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4553712"/>
            <a:ext cx="36576" cy="1783080"/>
          </a:xfrm>
          <a:prstGeom prst="rect">
            <a:avLst/>
          </a:prstGeom>
          <a:solidFill>
            <a:srgbClr val="E85A4F"/>
          </a:solidFill>
          <a:ln/>
        </p:spPr>
      </p:sp>
      <p:sp>
        <p:nvSpPr>
          <p:cNvPr id="46" name="Shape 44"/>
          <p:cNvSpPr/>
          <p:nvPr/>
        </p:nvSpPr>
        <p:spPr>
          <a:xfrm>
            <a:off x="2606040" y="4690872"/>
            <a:ext cx="548640" cy="274320"/>
          </a:xfrm>
          <a:prstGeom prst="rect">
            <a:avLst/>
          </a:prstGeom>
          <a:solidFill>
            <a:srgbClr val="1C2230"/>
          </a:solidFill>
          <a:ln w="8890">
            <a:solidFill>
              <a:srgbClr val="E85A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06040" y="4690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85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31520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A.05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1520" y="5056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FELLOWSHIP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31520" y="546811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D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aplica: propuesta single-player offline sin interacción social.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410712" y="4553712"/>
            <a:ext cx="2743200" cy="178308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10712" y="4553712"/>
            <a:ext cx="36576" cy="1783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53" name="Shape 51"/>
          <p:cNvSpPr/>
          <p:nvPr/>
        </p:nvSpPr>
        <p:spPr>
          <a:xfrm>
            <a:off x="5468112" y="4690872"/>
            <a:ext cx="548640" cy="274320"/>
          </a:xfrm>
          <a:prstGeom prst="rect">
            <a:avLst/>
          </a:prstGeom>
          <a:solidFill>
            <a:srgbClr val="D4A03C"/>
          </a:solidFill>
          <a:ln w="8890">
            <a:solidFill>
              <a:srgbClr val="D4A03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68112" y="4690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21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593592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A.06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593592" y="5056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3593592" y="546811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dimensión introduce nuevos enemigos y escenarios.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272784" y="4553712"/>
            <a:ext cx="2743200" cy="178308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72784" y="4553712"/>
            <a:ext cx="36576" cy="1783080"/>
          </a:xfrm>
          <a:prstGeom prst="rect">
            <a:avLst/>
          </a:prstGeom>
          <a:solidFill>
            <a:srgbClr val="E85A4F"/>
          </a:solidFill>
          <a:ln/>
        </p:spPr>
      </p:sp>
      <p:sp>
        <p:nvSpPr>
          <p:cNvPr id="60" name="Shape 58"/>
          <p:cNvSpPr/>
          <p:nvPr/>
        </p:nvSpPr>
        <p:spPr>
          <a:xfrm>
            <a:off x="8330184" y="4690872"/>
            <a:ext cx="548640" cy="274320"/>
          </a:xfrm>
          <a:prstGeom prst="rect">
            <a:avLst/>
          </a:prstGeom>
          <a:solidFill>
            <a:srgbClr val="1C2230"/>
          </a:solidFill>
          <a:ln w="8890">
            <a:solidFill>
              <a:srgbClr val="E85A4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30184" y="4690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85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455664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5A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A.07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455664" y="5056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455664" y="546811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D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contemplada explícitamente en el GDD (sin customización).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134856" y="4553712"/>
            <a:ext cx="2743200" cy="178308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34856" y="4553712"/>
            <a:ext cx="36576" cy="1783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67" name="Shape 65"/>
          <p:cNvSpPr/>
          <p:nvPr/>
        </p:nvSpPr>
        <p:spPr>
          <a:xfrm>
            <a:off x="11192256" y="4690872"/>
            <a:ext cx="548640" cy="274320"/>
          </a:xfrm>
          <a:prstGeom prst="rect">
            <a:avLst/>
          </a:prstGeom>
          <a:solidFill>
            <a:srgbClr val="D4A03C"/>
          </a:solidFill>
          <a:ln w="8890">
            <a:solidFill>
              <a:srgbClr val="D4A03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1192256" y="46908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21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9317736" y="4736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A.08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9317736" y="50566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317736" y="5468112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arcade y rejugabilidad: la partida corta como propuesta.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 · FREAKY SUPER MESH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48640" y="653796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MDA · AESTHETICS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13  ·  UADE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[ 06 ]  ·  CADENA COMPLETA MDA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896112"/>
            <a:ext cx="32004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Caso: Estado Eufórico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una mecánica concreta se transforma en experiencia estética.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3611880" cy="3063240"/>
          </a:xfrm>
          <a:prstGeom prst="rect">
            <a:avLst/>
          </a:prstGeom>
          <a:solidFill>
            <a:srgbClr val="1C2230"/>
          </a:solidFill>
          <a:ln w="7620">
            <a:solidFill>
              <a:srgbClr val="3A42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606040"/>
            <a:ext cx="3611880" cy="36576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2606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97380" y="3337560"/>
            <a:ext cx="914400" cy="914400"/>
          </a:xfrm>
          <a:prstGeom prst="ellipse">
            <a:avLst/>
          </a:prstGeom>
          <a:solidFill>
            <a:srgbClr val="242B3B"/>
          </a:solidFill>
          <a:ln w="15240">
            <a:solidFill>
              <a:srgbClr val="D4A0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1927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</a:t>
            </a:r>
            <a:endParaRPr lang="en-US" sz="4600" dirty="0"/>
          </a:p>
        </p:txBody>
      </p:sp>
      <p:sp>
        <p:nvSpPr>
          <p:cNvPr id="22" name="Shape 20"/>
          <p:cNvSpPr/>
          <p:nvPr/>
        </p:nvSpPr>
        <p:spPr>
          <a:xfrm>
            <a:off x="914400" y="4617720"/>
            <a:ext cx="2880360" cy="0"/>
          </a:xfrm>
          <a:prstGeom prst="line">
            <a:avLst/>
          </a:prstGeom>
          <a:noFill/>
          <a:ln w="6350">
            <a:solidFill>
              <a:srgbClr val="3A42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754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enemigos y bloquear ataques activa el estado eufórico.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06240" y="4137660"/>
            <a:ext cx="182880" cy="0"/>
          </a:xfrm>
          <a:prstGeom prst="line">
            <a:avLst/>
          </a:prstGeom>
          <a:noFill/>
          <a:ln w="19050">
            <a:solidFill>
              <a:srgbClr val="D4A03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416552" y="2606040"/>
            <a:ext cx="3611880" cy="3063240"/>
          </a:xfrm>
          <a:prstGeom prst="rect">
            <a:avLst/>
          </a:prstGeom>
          <a:solidFill>
            <a:srgbClr val="1C2230"/>
          </a:solidFill>
          <a:ln w="7620">
            <a:solidFill>
              <a:srgbClr val="3A425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16552" y="2606040"/>
            <a:ext cx="3611880" cy="36576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27" name="Text 25"/>
          <p:cNvSpPr/>
          <p:nvPr/>
        </p:nvSpPr>
        <p:spPr>
          <a:xfrm>
            <a:off x="4599432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99432" y="2606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65292" y="3337560"/>
            <a:ext cx="914400" cy="914400"/>
          </a:xfrm>
          <a:prstGeom prst="ellipse">
            <a:avLst/>
          </a:prstGeom>
          <a:solidFill>
            <a:srgbClr val="242B3B"/>
          </a:solidFill>
          <a:ln w="15240">
            <a:solidFill>
              <a:srgbClr val="D4A0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16552" y="331927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</a:t>
            </a:r>
            <a:endParaRPr lang="en-US" sz="4600" dirty="0"/>
          </a:p>
        </p:txBody>
      </p:sp>
      <p:sp>
        <p:nvSpPr>
          <p:cNvPr id="31" name="Shape 29"/>
          <p:cNvSpPr/>
          <p:nvPr/>
        </p:nvSpPr>
        <p:spPr>
          <a:xfrm>
            <a:off x="4782312" y="4617720"/>
            <a:ext cx="2880360" cy="0"/>
          </a:xfrm>
          <a:prstGeom prst="line">
            <a:avLst/>
          </a:prstGeom>
          <a:noFill/>
          <a:ln w="6350">
            <a:solidFill>
              <a:srgbClr val="3A42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90872" y="4754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jugador combina ofensiva y defensa para acelerar su activación.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74152" y="4137660"/>
            <a:ext cx="182880" cy="0"/>
          </a:xfrm>
          <a:prstGeom prst="line">
            <a:avLst/>
          </a:prstGeom>
          <a:noFill/>
          <a:ln w="19050">
            <a:solidFill>
              <a:srgbClr val="D4A03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284464" y="2606040"/>
            <a:ext cx="3611880" cy="3063240"/>
          </a:xfrm>
          <a:prstGeom prst="rect">
            <a:avLst/>
          </a:prstGeom>
          <a:solidFill>
            <a:srgbClr val="1C2230"/>
          </a:solidFill>
          <a:ln w="7620">
            <a:solidFill>
              <a:srgbClr val="3A425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84464" y="2606040"/>
            <a:ext cx="3611880" cy="36576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36" name="Text 34"/>
          <p:cNvSpPr/>
          <p:nvPr/>
        </p:nvSpPr>
        <p:spPr>
          <a:xfrm>
            <a:off x="8467344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03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67344" y="2606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ESTÉTICA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633204" y="3337560"/>
            <a:ext cx="914400" cy="914400"/>
          </a:xfrm>
          <a:prstGeom prst="ellipse">
            <a:avLst/>
          </a:prstGeom>
          <a:solidFill>
            <a:srgbClr val="242B3B"/>
          </a:solidFill>
          <a:ln w="15240">
            <a:solidFill>
              <a:srgbClr val="D4A0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84464" y="331927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</a:t>
            </a:r>
            <a:endParaRPr lang="en-US" sz="4600" dirty="0"/>
          </a:p>
        </p:txBody>
      </p:sp>
      <p:sp>
        <p:nvSpPr>
          <p:cNvPr id="40" name="Shape 38"/>
          <p:cNvSpPr/>
          <p:nvPr/>
        </p:nvSpPr>
        <p:spPr>
          <a:xfrm>
            <a:off x="8650224" y="4617720"/>
            <a:ext cx="2880360" cy="0"/>
          </a:xfrm>
          <a:prstGeom prst="line">
            <a:avLst/>
          </a:prstGeom>
          <a:noFill/>
          <a:ln w="6350">
            <a:solidFill>
              <a:srgbClr val="3A425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58784" y="475488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· Sensation · Submission.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misma acción alimenta defensa, ofensiva y recompensa emocional.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 · FREAKY SUPER MESH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653796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MDA · CADENA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13  ·  UADE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[ 07 ]  ·  TÉTRADA DE SCHELL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896112"/>
            <a:ext cx="32004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100" kern="0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Los cuatro elementos y sus relaciones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influencias recíprocas entre los elementos del juego.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54156" y="3212189"/>
            <a:ext cx="1207288" cy="845101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  <a:headEnd type="triangl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114800" y="3493008"/>
            <a:ext cx="0" cy="1883664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  <a:headEnd type="triangl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575444" y="3212189"/>
            <a:ext cx="-1207288" cy="845101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861444" y="4812389"/>
            <a:ext cx="-1207288" cy="845101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  <a:headEnd type="triangl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742432" y="4434840"/>
            <a:ext cx="-3255264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  <a:headEnd type="triangl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575444" y="5657491"/>
            <a:ext cx="-1207288" cy="-845101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977640" y="4297680"/>
            <a:ext cx="274320" cy="274320"/>
          </a:xfrm>
          <a:prstGeom prst="ellipse">
            <a:avLst/>
          </a:prstGeom>
          <a:solidFill>
            <a:srgbClr val="D4A03C"/>
          </a:solidFill>
          <a:ln/>
        </p:spPr>
      </p:sp>
      <p:sp>
        <p:nvSpPr>
          <p:cNvPr id="23" name="Shape 21"/>
          <p:cNvSpPr/>
          <p:nvPr/>
        </p:nvSpPr>
        <p:spPr>
          <a:xfrm>
            <a:off x="4041648" y="4361688"/>
            <a:ext cx="146304" cy="146304"/>
          </a:xfrm>
          <a:prstGeom prst="ellipse">
            <a:avLst/>
          </a:prstGeom>
          <a:solidFill>
            <a:srgbClr val="121722"/>
          </a:solidFill>
          <a:ln/>
        </p:spPr>
      </p:sp>
      <p:sp>
        <p:nvSpPr>
          <p:cNvPr id="24" name="Shape 22"/>
          <p:cNvSpPr/>
          <p:nvPr/>
        </p:nvSpPr>
        <p:spPr>
          <a:xfrm>
            <a:off x="2926080" y="2354580"/>
            <a:ext cx="2377440" cy="960120"/>
          </a:xfrm>
          <a:prstGeom prst="rect">
            <a:avLst/>
          </a:prstGeom>
          <a:solidFill>
            <a:srgbClr val="1C2230"/>
          </a:solidFill>
          <a:ln w="13970">
            <a:solidFill>
              <a:srgbClr val="D4A0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0" y="2354580"/>
            <a:ext cx="2377440" cy="27432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26" name="Text 24"/>
          <p:cNvSpPr/>
          <p:nvPr/>
        </p:nvSpPr>
        <p:spPr>
          <a:xfrm>
            <a:off x="2926080" y="23545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MECÁNICA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90672" y="26746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Combate en tiempo real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090672" y="28757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Bosses por dimensión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90672" y="30769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Estado eufórico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212080" y="3954780"/>
            <a:ext cx="2377440" cy="960120"/>
          </a:xfrm>
          <a:prstGeom prst="rect">
            <a:avLst/>
          </a:prstGeom>
          <a:solidFill>
            <a:srgbClr val="1C2230"/>
          </a:solidFill>
          <a:ln w="13970">
            <a:solidFill>
              <a:srgbClr val="D4A0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12080" y="3954780"/>
            <a:ext cx="2377440" cy="27432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39547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ESTÉTICA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76672" y="42748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Humor absurdo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76672" y="44759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Mundos bizarros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76672" y="46771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Feedback frenético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926080" y="5554980"/>
            <a:ext cx="2377440" cy="960120"/>
          </a:xfrm>
          <a:prstGeom prst="rect">
            <a:avLst/>
          </a:prstGeom>
          <a:solidFill>
            <a:srgbClr val="1C2230"/>
          </a:solidFill>
          <a:ln w="13970">
            <a:solidFill>
              <a:srgbClr val="D4A03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26080" y="5554980"/>
            <a:ext cx="2377440" cy="27432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38" name="Text 36"/>
          <p:cNvSpPr/>
          <p:nvPr/>
        </p:nvSpPr>
        <p:spPr>
          <a:xfrm>
            <a:off x="2926080" y="55549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TECNOLOGÍA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090672" y="58750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Unity · Modelos 3D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090672" y="60761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Cámara cenital 53°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090672" y="62773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PC · Offline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0080" y="3954780"/>
            <a:ext cx="2377440" cy="960120"/>
          </a:xfrm>
          <a:prstGeom prst="rect">
            <a:avLst/>
          </a:prstGeom>
          <a:solidFill>
            <a:srgbClr val="1C2230"/>
          </a:solidFill>
          <a:ln w="13970">
            <a:solidFill>
              <a:srgbClr val="D4A03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" y="3954780"/>
            <a:ext cx="2377440" cy="27432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39547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04672" y="427482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Dr. Emilio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04672" y="44759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Portal fallido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04672" y="46771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Volver a casa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046720" y="2606040"/>
            <a:ext cx="3657600" cy="3749040"/>
          </a:xfrm>
          <a:prstGeom prst="rect">
            <a:avLst/>
          </a:prstGeom>
          <a:solidFill>
            <a:srgbClr val="1C2230"/>
          </a:solidFill>
          <a:ln w="7620">
            <a:solidFill>
              <a:srgbClr val="3A425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46720" y="2606040"/>
            <a:ext cx="3657600" cy="32004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50" name="Text 48"/>
          <p:cNvSpPr/>
          <p:nvPr/>
        </p:nvSpPr>
        <p:spPr>
          <a:xfrm>
            <a:off x="804672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INFLUENCIAS RECÍPROCAS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275320" y="3154680"/>
            <a:ext cx="54864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52" name="Text 50"/>
          <p:cNvSpPr/>
          <p:nvPr/>
        </p:nvSpPr>
        <p:spPr>
          <a:xfrm>
            <a:off x="8458200" y="310896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HISTORIA  →  MECÁNICA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458200" y="33101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portal fallido justifica oleadas y bosses por dimensión.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275320" y="3959352"/>
            <a:ext cx="54864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55" name="Text 53"/>
          <p:cNvSpPr/>
          <p:nvPr/>
        </p:nvSpPr>
        <p:spPr>
          <a:xfrm>
            <a:off x="8458200" y="39136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MECÁNICA  →  ESTÉTICA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458200" y="41148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combate frenético y la euforia generan sensation y submission.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275320" y="4764024"/>
            <a:ext cx="54864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58" name="Text 56"/>
          <p:cNvSpPr/>
          <p:nvPr/>
        </p:nvSpPr>
        <p:spPr>
          <a:xfrm>
            <a:off x="8458200" y="471830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TECNOLOGÍA  →  MECÁNICA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458200" y="491947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cámara isométrica en Unity habilita el combate con apuntado.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275320" y="5568696"/>
            <a:ext cx="54864" cy="64008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61" name="Text 59"/>
          <p:cNvSpPr/>
          <p:nvPr/>
        </p:nvSpPr>
        <p:spPr>
          <a:xfrm>
            <a:off x="8458200" y="552297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ESTÉTICA  →  HISTORIA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458200" y="572414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tono absurdo construye el universo bizarro del laboratorio.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 · FREAKY SUPER MESH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48640" y="653796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TÉTRADA DE SCHELL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13  ·  UADE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[ 08 ]  ·  RELACIÓN ENTRE ELEMENTOS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896112"/>
            <a:ext cx="32004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100" kern="0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Coherencia del sistema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articulación entre narrativa, sistemas y presentación.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7498080" cy="73152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606040"/>
            <a:ext cx="45720" cy="73152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606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97480" y="2971800"/>
            <a:ext cx="411480" cy="0"/>
          </a:xfrm>
          <a:prstGeom prst="line">
            <a:avLst/>
          </a:prstGeom>
          <a:noFill/>
          <a:ln w="11430">
            <a:solidFill>
              <a:srgbClr val="D4A03C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429000" y="2606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77840" y="26060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narrativa justifica cada mundo y sus enemigos.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447288"/>
            <a:ext cx="7498080" cy="73152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447288"/>
            <a:ext cx="45720" cy="73152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44728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MECÁNICA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97480" y="3813048"/>
            <a:ext cx="411480" cy="0"/>
          </a:xfrm>
          <a:prstGeom prst="line">
            <a:avLst/>
          </a:prstGeom>
          <a:noFill/>
          <a:ln w="11430">
            <a:solidFill>
              <a:srgbClr val="D4A03C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429000" y="344728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77840" y="344728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dimensión se traduce en un puzzle jugable.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288536"/>
            <a:ext cx="7498080" cy="73152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288536"/>
            <a:ext cx="45720" cy="73152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288536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ESTÉTICA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697480" y="4654296"/>
            <a:ext cx="411480" cy="0"/>
          </a:xfrm>
          <a:prstGeom prst="line">
            <a:avLst/>
          </a:prstGeom>
          <a:noFill/>
          <a:ln w="11430">
            <a:solidFill>
              <a:srgbClr val="D4A03C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429000" y="4288536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77840" y="428853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universo absurdo vuelve al juego inolvidable.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129784"/>
            <a:ext cx="7498080" cy="73152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5129784"/>
            <a:ext cx="45720" cy="73152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5129784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TECNOLOGÍA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697480" y="5495544"/>
            <a:ext cx="411480" cy="0"/>
          </a:xfrm>
          <a:prstGeom prst="line">
            <a:avLst/>
          </a:prstGeom>
          <a:noFill/>
          <a:ln w="11430">
            <a:solidFill>
              <a:srgbClr val="D4A03C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3429000" y="5129784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FLUIDEZ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77840" y="5129784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garantiza una jugabilidad sólida y estable.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321040" y="2606040"/>
            <a:ext cx="3337560" cy="3246120"/>
          </a:xfrm>
          <a:prstGeom prst="rect">
            <a:avLst/>
          </a:prstGeom>
          <a:solidFill>
            <a:srgbClr val="242B3B"/>
          </a:solidFill>
          <a:ln w="10160">
            <a:solidFill>
              <a:srgbClr val="D4A03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21040" y="2606040"/>
            <a:ext cx="3337560" cy="36576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42" name="Text 40"/>
          <p:cNvSpPr/>
          <p:nvPr/>
        </p:nvSpPr>
        <p:spPr>
          <a:xfrm>
            <a:off x="8321040" y="26060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217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CONCLUSIÓN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503920" y="3108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Coherencia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8503920" y="39319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narrativa, sistemas y presentación visual.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503920" y="5257800"/>
            <a:ext cx="731520" cy="36576"/>
          </a:xfrm>
          <a:prstGeom prst="rect">
            <a:avLst/>
          </a:prstGeom>
          <a:solidFill>
            <a:srgbClr val="E85A4F"/>
          </a:solidFill>
          <a:ln/>
        </p:spPr>
      </p:sp>
      <p:sp>
        <p:nvSpPr>
          <p:cNvPr id="46" name="Text 44"/>
          <p:cNvSpPr/>
          <p:nvPr/>
        </p:nvSpPr>
        <p:spPr>
          <a:xfrm>
            <a:off x="8503920" y="5394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FSM TEAM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 · FREAKY SUPER MESH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8640" y="653796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RELACIÓN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13  ·  UADE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[ 09 ]  ·  REPARTO DE TAREAS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896112"/>
            <a:ext cx="32004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Autoría por sección del GDD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Secciones del Game Design Document  ·  completar con el integrante responsable.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5577840" cy="6858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606040"/>
            <a:ext cx="640080" cy="68580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606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26791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General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2990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377440" y="2990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429000"/>
            <a:ext cx="5577840" cy="6858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429000"/>
            <a:ext cx="640080" cy="68580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4290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71600" y="3502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y contexto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38130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377440" y="3813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251960"/>
            <a:ext cx="5577840" cy="6858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251960"/>
            <a:ext cx="640080" cy="68580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25196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371600" y="43251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Mecánicas principales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71600" y="4636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377440" y="4636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074920"/>
            <a:ext cx="5577840" cy="6858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5074920"/>
            <a:ext cx="640080" cy="68580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50749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371600" y="5148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Progresión y estructura de niveles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371600" y="54589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377440" y="5458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2606040"/>
            <a:ext cx="5577840" cy="6858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0" y="2606040"/>
            <a:ext cx="640080" cy="68580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260604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223760" y="26791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 assets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223760" y="29900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229600" y="29900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0" y="3429000"/>
            <a:ext cx="5577840" cy="6858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0" y="3429000"/>
            <a:ext cx="640080" cy="68580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0" y="342900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223760" y="3502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223760" y="38130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229600" y="3813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00800" y="4251960"/>
            <a:ext cx="5577840" cy="6858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00800" y="4251960"/>
            <a:ext cx="640080" cy="68580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0" y="425196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7223760" y="43251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223760" y="4636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229600" y="4636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400800" y="5074920"/>
            <a:ext cx="5577840" cy="68580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00800" y="5074920"/>
            <a:ext cx="640080" cy="68580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60" name="Text 58"/>
          <p:cNvSpPr/>
          <p:nvPr/>
        </p:nvSpPr>
        <p:spPr>
          <a:xfrm>
            <a:off x="6400800" y="5074920"/>
            <a:ext cx="64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7223760" y="51480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IA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223760" y="54589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INTEGRANTE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229600" y="5458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___________________________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48640" y="5943600"/>
            <a:ext cx="11064240" cy="0"/>
          </a:xfrm>
          <a:prstGeom prst="line">
            <a:avLst/>
          </a:prstGeom>
          <a:noFill/>
          <a:ln w="6350">
            <a:solidFill>
              <a:srgbClr val="3A425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EQUIPO DINAMITA  ·  FIDMAY  ·  NUÑEZ DI MEO  ·  HUG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 · FREAKY SUPER MESH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48640" y="653796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REPARTO GDD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  ·  UADE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[ 10 ]  ·  REFERENCIAS E INFLUENCIAS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896112"/>
            <a:ext cx="32004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100" kern="0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 ADN del juego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548640" y="2194560"/>
            <a:ext cx="3611880" cy="169164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194560"/>
            <a:ext cx="3611880" cy="32004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REF.01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2651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MegaBonk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77240" y="3182112"/>
            <a:ext cx="365760" cy="27432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2918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Diversión arcade inmediata y acción directa.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2194560"/>
            <a:ext cx="3611880" cy="169164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2194560"/>
            <a:ext cx="3611880" cy="32004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REF.02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2651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Vampire Survivors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72000" y="3182112"/>
            <a:ext cx="365760" cy="27432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2918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Supervivencia frente a hordas, progresión y rejugabilidad.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138160" y="2194560"/>
            <a:ext cx="3611880" cy="169164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2194560"/>
            <a:ext cx="3611880" cy="32004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REF.03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66760" y="26517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Hotline Miami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8366760" y="3182112"/>
            <a:ext cx="365760" cy="27432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32918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frenético, presión constante y combate intenso.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114800"/>
            <a:ext cx="3611880" cy="169164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114800"/>
            <a:ext cx="3611880" cy="32004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REF.04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" y="45720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Rick and Morty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777240" y="5102352"/>
            <a:ext cx="365760" cy="27432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5212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Humor absurdo y dimensiones alternativas.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343400" y="4114800"/>
            <a:ext cx="3611880" cy="169164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43400" y="4114800"/>
            <a:ext cx="3611880" cy="32004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41" name="Text 39"/>
          <p:cNvSpPr/>
          <p:nvPr/>
        </p:nvSpPr>
        <p:spPr>
          <a:xfrm>
            <a:off x="452628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REF.05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0" y="45720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Mundo — LoL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572000" y="5102352"/>
            <a:ext cx="365760" cy="27432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0" y="5212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Científico descontrolado, poder bruto.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138160" y="4114800"/>
            <a:ext cx="3611880" cy="1691640"/>
          </a:xfrm>
          <a:prstGeom prst="rect">
            <a:avLst/>
          </a:prstGeom>
          <a:solidFill>
            <a:srgbClr val="1C2230"/>
          </a:solidFill>
          <a:ln w="6350">
            <a:solidFill>
              <a:srgbClr val="3A425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38160" y="4114800"/>
            <a:ext cx="3611880" cy="320040"/>
          </a:xfrm>
          <a:prstGeom prst="rect">
            <a:avLst/>
          </a:prstGeom>
          <a:solidFill>
            <a:srgbClr val="242B3B"/>
          </a:solidFill>
          <a:ln/>
        </p:spPr>
      </p:sp>
      <p:sp>
        <p:nvSpPr>
          <p:cNvPr id="47" name="Text 45"/>
          <p:cNvSpPr/>
          <p:nvPr/>
        </p:nvSpPr>
        <p:spPr>
          <a:xfrm>
            <a:off x="832104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REF.06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366760" y="45720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Heimerdinger — LoL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8366760" y="5102352"/>
            <a:ext cx="365760" cy="27432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50" name="Text 48"/>
          <p:cNvSpPr/>
          <p:nvPr/>
        </p:nvSpPr>
        <p:spPr>
          <a:xfrm>
            <a:off x="8366760" y="5212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 científico, estética tecnológica.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 · FREAKY SUPER MESH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48640" y="653796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REFERENCIAS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  ·  UADE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[ 11 ]  ·  DESARROLLO DEL PROYECTO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896112"/>
            <a:ext cx="32004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Evidencias de producción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visual del trabajo: concept art, escenas en Unity y gameplay.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5532120" cy="1783080"/>
          </a:xfrm>
          <a:prstGeom prst="rect">
            <a:avLst/>
          </a:prstGeom>
          <a:ln w="11430">
            <a:solidFill>
              <a:srgbClr val="D4A03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21792" y="2679192"/>
            <a:ext cx="5385816" cy="1636776"/>
          </a:xfrm>
          <a:prstGeom prst="rect">
            <a:avLst/>
          </a:prstGeom>
          <a:solidFill>
            <a:srgbClr val="1C2230"/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2807208"/>
            <a:ext cx="109728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2807208"/>
            <a:ext cx="0" cy="109728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6440" y="2807208"/>
            <a:ext cx="109728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16168" y="2807208"/>
            <a:ext cx="0" cy="109728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187952"/>
            <a:ext cx="109728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4078224"/>
            <a:ext cx="0" cy="109728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06440" y="4187952"/>
            <a:ext cx="109728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6168" y="4078224"/>
            <a:ext cx="0" cy="109728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SLOT.01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60120" y="3154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PERSONAJES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0120" y="3566160"/>
            <a:ext cx="365760" cy="27432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36576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Emilio · enemigos por dimensión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97764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INSERTAR CAPTURA / VIDEO  ]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63640" y="2606040"/>
            <a:ext cx="5532120" cy="1783080"/>
          </a:xfrm>
          <a:prstGeom prst="rect">
            <a:avLst/>
          </a:prstGeom>
          <a:ln w="11430">
            <a:solidFill>
              <a:srgbClr val="D4A03C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336792" y="2679192"/>
            <a:ext cx="5385816" cy="1636776"/>
          </a:xfrm>
          <a:prstGeom prst="rect">
            <a:avLst/>
          </a:prstGeom>
          <a:solidFill>
            <a:srgbClr val="1C2230"/>
          </a:solidFill>
          <a:ln/>
        </p:spPr>
      </p:sp>
      <p:sp>
        <p:nvSpPr>
          <p:cNvPr id="33" name="Shape 31"/>
          <p:cNvSpPr/>
          <p:nvPr/>
        </p:nvSpPr>
        <p:spPr>
          <a:xfrm>
            <a:off x="6428232" y="2807208"/>
            <a:ext cx="109728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28232" y="2807208"/>
            <a:ext cx="0" cy="109728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521440" y="2807208"/>
            <a:ext cx="109728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631168" y="2807208"/>
            <a:ext cx="0" cy="109728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28232" y="4187952"/>
            <a:ext cx="109728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28232" y="4078224"/>
            <a:ext cx="0" cy="109728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521440" y="4187952"/>
            <a:ext cx="109728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631168" y="4078224"/>
            <a:ext cx="0" cy="109728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SLOT.02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675120" y="3154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ESCENAS EN UNITY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675120" y="3566160"/>
            <a:ext cx="365760" cy="27432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0" y="36576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de editor y escenarios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69264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INSERTAR CAPTURA / VIDEO  ]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8640" y="4572000"/>
            <a:ext cx="5532120" cy="1783080"/>
          </a:xfrm>
          <a:prstGeom prst="rect">
            <a:avLst/>
          </a:prstGeom>
          <a:ln w="11430">
            <a:solidFill>
              <a:srgbClr val="D4A03C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621792" y="4645152"/>
            <a:ext cx="5385816" cy="1636776"/>
          </a:xfrm>
          <a:prstGeom prst="rect">
            <a:avLst/>
          </a:prstGeom>
          <a:solidFill>
            <a:srgbClr val="1C2230"/>
          </a:solidFill>
          <a:ln/>
        </p:spPr>
      </p:sp>
      <p:sp>
        <p:nvSpPr>
          <p:cNvPr id="48" name="Shape 46"/>
          <p:cNvSpPr/>
          <p:nvPr/>
        </p:nvSpPr>
        <p:spPr>
          <a:xfrm>
            <a:off x="713232" y="4773168"/>
            <a:ext cx="109728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3232" y="4773168"/>
            <a:ext cx="0" cy="109728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06440" y="4773168"/>
            <a:ext cx="109728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16168" y="4773168"/>
            <a:ext cx="0" cy="109728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3232" y="6153912"/>
            <a:ext cx="109728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13232" y="6044184"/>
            <a:ext cx="0" cy="109728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06440" y="6153912"/>
            <a:ext cx="109728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16168" y="6044184"/>
            <a:ext cx="0" cy="109728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012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SLOT.03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60120" y="51206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60120" y="5532120"/>
            <a:ext cx="365760" cy="27432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59" name="Text 57"/>
          <p:cNvSpPr/>
          <p:nvPr/>
        </p:nvSpPr>
        <p:spPr>
          <a:xfrm>
            <a:off x="960120" y="56235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de combate y bosses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977640" y="5943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INSERTAR CAPTURA / VIDEO  ]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63640" y="4572000"/>
            <a:ext cx="5532120" cy="1783080"/>
          </a:xfrm>
          <a:prstGeom prst="rect">
            <a:avLst/>
          </a:prstGeom>
          <a:ln w="11430">
            <a:solidFill>
              <a:srgbClr val="D4A03C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6336792" y="4645152"/>
            <a:ext cx="5385816" cy="1636776"/>
          </a:xfrm>
          <a:prstGeom prst="rect">
            <a:avLst/>
          </a:prstGeom>
          <a:solidFill>
            <a:srgbClr val="1C2230"/>
          </a:solidFill>
          <a:ln/>
        </p:spPr>
      </p:sp>
      <p:sp>
        <p:nvSpPr>
          <p:cNvPr id="63" name="Shape 61"/>
          <p:cNvSpPr/>
          <p:nvPr/>
        </p:nvSpPr>
        <p:spPr>
          <a:xfrm>
            <a:off x="6428232" y="4773168"/>
            <a:ext cx="109728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428232" y="4773168"/>
            <a:ext cx="0" cy="109728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521440" y="4773168"/>
            <a:ext cx="109728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631168" y="4773168"/>
            <a:ext cx="0" cy="109728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28232" y="6153912"/>
            <a:ext cx="109728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28232" y="6044184"/>
            <a:ext cx="0" cy="109728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521440" y="6153912"/>
            <a:ext cx="109728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31168" y="6044184"/>
            <a:ext cx="0" cy="109728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7512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SLOT.04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675120" y="51206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ITERACIÓN DE DISEÑO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675120" y="5532120"/>
            <a:ext cx="365760" cy="27432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74" name="Text 72"/>
          <p:cNvSpPr/>
          <p:nvPr/>
        </p:nvSpPr>
        <p:spPr>
          <a:xfrm>
            <a:off x="6675120" y="56235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8B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Pruebas, bocetos, prototipos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9692640" y="5943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INSERTAR CAPTURA / VIDEO  ]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 · FREAKY SUPER MESH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548640" y="6537960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B8B3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EVIDENCIAS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  ·  UADE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31168" y="36576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65760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31168" y="6492240"/>
            <a:ext cx="164592" cy="0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5760" y="6327648"/>
            <a:ext cx="0" cy="164592"/>
          </a:xfrm>
          <a:prstGeom prst="line">
            <a:avLst/>
          </a:prstGeom>
          <a:noFill/>
          <a:ln w="15240">
            <a:solidFill>
              <a:srgbClr val="D4A0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84048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6473952"/>
            <a:ext cx="10881360" cy="0"/>
          </a:xfrm>
          <a:prstGeom prst="line">
            <a:avLst/>
          </a:prstGeom>
          <a:noFill/>
          <a:ln w="5080">
            <a:solidFill>
              <a:srgbClr val="3A42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54864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137160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219456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301752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84048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66344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6309360"/>
            <a:ext cx="12161520" cy="0"/>
          </a:xfrm>
          <a:prstGeom prst="line">
            <a:avLst/>
          </a:prstGeom>
          <a:noFill/>
          <a:ln w="3175">
            <a:solidFill>
              <a:srgbClr val="2A31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1737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 /  FIN DE LA PRESENTACIÓN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94960" y="2240280"/>
            <a:ext cx="137160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51460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AE4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Freaky Super Mesh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548640" y="3840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A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claros.   Acción intensa.   Identidad propia.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337560" y="4617720"/>
            <a:ext cx="5486400" cy="0"/>
          </a:xfrm>
          <a:prstGeom prst="line">
            <a:avLst/>
          </a:prstGeom>
          <a:noFill/>
          <a:ln w="7620">
            <a:solidFill>
              <a:srgbClr val="3A425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754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600" kern="0" dirty="0">
                <a:solidFill>
                  <a:srgbClr val="D4A03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GRACIAS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48640" y="55778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4A0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EQUIPO DINAMITA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58064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Fidmay  ·  Nuñez Di Meo  ·  Hug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08076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UADE  ·  Diseño de Videojuegos  ·  2026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FSM · FREAKY SUPER MESH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869680" y="6537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892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13  ·  UADE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Freaky Super Mesh - Análisis Teórico</dc:title>
  <dc:subject>PptxGenJS Presentation</dc:subject>
  <dc:creator>Fidmay, Nuñez Di Meo, Hug</dc:creator>
  <cp:lastModifiedBy>Fidmay, Nuñez Di Meo, Hug</cp:lastModifiedBy>
  <cp:revision>1</cp:revision>
  <dcterms:created xsi:type="dcterms:W3CDTF">2026-04-24T12:16:20Z</dcterms:created>
  <dcterms:modified xsi:type="dcterms:W3CDTF">2026-04-24T12:16:20Z</dcterms:modified>
</cp:coreProperties>
</file>